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05" r:id="rId2"/>
    <p:sldId id="420" r:id="rId3"/>
    <p:sldId id="421" r:id="rId4"/>
    <p:sldId id="425" r:id="rId5"/>
    <p:sldId id="426" r:id="rId6"/>
    <p:sldId id="427" r:id="rId7"/>
    <p:sldId id="430" r:id="rId8"/>
    <p:sldId id="428" r:id="rId9"/>
    <p:sldId id="431" r:id="rId10"/>
    <p:sldId id="429" r:id="rId11"/>
    <p:sldId id="423" r:id="rId12"/>
    <p:sldId id="424" r:id="rId13"/>
  </p:sldIdLst>
  <p:sldSz cx="12192000" cy="6858000"/>
  <p:notesSz cx="6858000" cy="9774238"/>
  <p:custDataLst>
    <p:tags r:id="rId16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Frutiger 45 Light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Frutiger 45 Light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Frutiger 45 Light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Frutiger 45 Light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Frutiger 45 Light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Frutiger 45 Light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Frutiger 45 Light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Frutiger 45 Light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Frutiger 45 Ligh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92" userDrawn="1">
          <p15:clr>
            <a:srgbClr val="A4A3A4"/>
          </p15:clr>
        </p15:guide>
        <p15:guide id="2" orient="horz" pos="2529" userDrawn="1">
          <p15:clr>
            <a:srgbClr val="A4A3A4"/>
          </p15:clr>
        </p15:guide>
        <p15:guide id="3" pos="385" userDrawn="1">
          <p15:clr>
            <a:srgbClr val="A4A3A4"/>
          </p15:clr>
        </p15:guide>
        <p15:guide id="4" pos="17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9C12"/>
    <a:srgbClr val="3498DB"/>
    <a:srgbClr val="CA674C"/>
    <a:srgbClr val="E74C3C"/>
    <a:srgbClr val="2ECC71"/>
    <a:srgbClr val="9FFFED"/>
    <a:srgbClr val="FF6600"/>
    <a:srgbClr val="008080"/>
    <a:srgbClr val="339966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Helle Formatvorlage 3 - Akz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25" autoAdjust="0"/>
    <p:restoredTop sz="96395" autoAdjust="0"/>
  </p:normalViewPr>
  <p:slideViewPr>
    <p:cSldViewPr snapToObjects="1" showGuides="1">
      <p:cViewPr>
        <p:scale>
          <a:sx n="115" d="100"/>
          <a:sy n="115" d="100"/>
        </p:scale>
        <p:origin x="300" y="42"/>
      </p:cViewPr>
      <p:guideLst>
        <p:guide orient="horz" pos="3492"/>
        <p:guide orient="horz" pos="2529"/>
        <p:guide pos="385"/>
        <p:guide pos="17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>
      <p:cViewPr varScale="1">
        <p:scale>
          <a:sx n="79" d="100"/>
          <a:sy n="79" d="100"/>
        </p:scale>
        <p:origin x="3942" y="114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92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3700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92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9283700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6F7E290D-D0F5-44F3-9BBF-517C040184A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04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de-DE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de-DE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71450" y="733425"/>
            <a:ext cx="6515100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643438"/>
            <a:ext cx="5486400" cy="439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3700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de-DE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283700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B1936D3B-1A1A-458A-9428-9E381CCD61E7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31571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828799" y="2102203"/>
            <a:ext cx="9086198" cy="52322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799" y="3384575"/>
            <a:ext cx="9086197" cy="23431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el 26"/>
          <p:cNvSpPr>
            <a:spLocks noGrp="1"/>
          </p:cNvSpPr>
          <p:nvPr>
            <p:ph type="title"/>
          </p:nvPr>
        </p:nvSpPr>
        <p:spPr>
          <a:xfrm>
            <a:off x="602585" y="69590"/>
            <a:ext cx="10975015" cy="523220"/>
          </a:xfrm>
        </p:spPr>
        <p:txBody>
          <a:bodyPr wrap="square"/>
          <a:lstStyle>
            <a:lvl1pPr>
              <a:defRPr sz="2800">
                <a:latin typeface="Frutiger LT Com 55 Roman" panose="020B0503030504020204" pitchFamily="34" charset="0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10" name="Inhaltsplatzhalter 2"/>
          <p:cNvSpPr>
            <a:spLocks noGrp="1"/>
          </p:cNvSpPr>
          <p:nvPr>
            <p:ph idx="10"/>
          </p:nvPr>
        </p:nvSpPr>
        <p:spPr>
          <a:xfrm>
            <a:off x="602585" y="777600"/>
            <a:ext cx="10975015" cy="5353200"/>
          </a:xfrm>
        </p:spPr>
        <p:txBody>
          <a:bodyPr>
            <a:normAutofit/>
          </a:bodyPr>
          <a:lstStyle>
            <a:lvl1pPr>
              <a:defRPr sz="2000">
                <a:latin typeface="Frutiger LT Com 45 Light" panose="020B0303030504020204" pitchFamily="34" charset="0"/>
              </a:defRPr>
            </a:lvl1pPr>
            <a:lvl2pPr>
              <a:defRPr sz="1800">
                <a:latin typeface="Frutiger LT Com 45 Light" panose="020B0303030504020204" pitchFamily="34" charset="0"/>
              </a:defRPr>
            </a:lvl2pPr>
            <a:lvl3pPr marL="1143000" indent="-228600">
              <a:buFont typeface="Wingdings 2" pitchFamily="18" charset="2"/>
              <a:buChar char=""/>
              <a:defRPr sz="1600">
                <a:latin typeface="Frutiger LT Com 45 Light" panose="020B0303030504020204" pitchFamily="34" charset="0"/>
              </a:defRPr>
            </a:lvl3pPr>
            <a:lvl4pPr marL="1600200" indent="-228600">
              <a:buFont typeface="Wingdings 2" pitchFamily="18" charset="2"/>
              <a:buChar char=""/>
              <a:defRPr sz="1400">
                <a:latin typeface="Frutiger LT Com 45 Light" panose="020B0303030504020204" pitchFamily="34" charset="0"/>
              </a:defRPr>
            </a:lvl4pPr>
            <a:lvl5pPr marL="2057400" indent="-228600">
              <a:buFont typeface="Wingdings 2" pitchFamily="18" charset="2"/>
              <a:buChar char=""/>
              <a:defRPr sz="1400">
                <a:latin typeface="Frutiger LT Com 45 Light" panose="020B0303030504020204" pitchFamily="34" charset="0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platzhalter 24"/>
          <p:cNvSpPr>
            <a:spLocks noGrp="1"/>
          </p:cNvSpPr>
          <p:nvPr>
            <p:ph type="title"/>
          </p:nvPr>
        </p:nvSpPr>
        <p:spPr>
          <a:xfrm>
            <a:off x="602585" y="69590"/>
            <a:ext cx="10975015" cy="523220"/>
          </a:xfrm>
          <a:prstGeom prst="rect">
            <a:avLst/>
          </a:prstGeom>
        </p:spPr>
        <p:txBody>
          <a:bodyPr vert="horz" wrap="square" lIns="91440" tIns="45720" rIns="0" bIns="45720" rtlCol="0" anchor="ctr">
            <a:sp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26" name="Textplatzhalter 25"/>
          <p:cNvSpPr>
            <a:spLocks noGrp="1"/>
          </p:cNvSpPr>
          <p:nvPr>
            <p:ph type="body" idx="1"/>
          </p:nvPr>
        </p:nvSpPr>
        <p:spPr>
          <a:xfrm>
            <a:off x="602585" y="1602000"/>
            <a:ext cx="10975015" cy="452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0" name="Textfeld 9"/>
          <p:cNvSpPr txBox="1"/>
          <p:nvPr/>
        </p:nvSpPr>
        <p:spPr>
          <a:xfrm>
            <a:off x="489760" y="6451601"/>
            <a:ext cx="44784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noProof="0" dirty="0">
                <a:latin typeface="Frutiger LT Com 45 Light" panose="020B0303030504020204" pitchFamily="34" charset="0"/>
              </a:rPr>
              <a:t>Laborprojekt </a:t>
            </a:r>
            <a:r>
              <a:rPr lang="de-DE" sz="1200" kern="1200" noProof="0" dirty="0">
                <a:solidFill>
                  <a:schemeClr val="tx1"/>
                </a:solidFill>
                <a:latin typeface="Frutiger LT Com 45 Light" panose="020B0303030504020204" pitchFamily="34" charset="0"/>
                <a:ea typeface="+mn-ea"/>
                <a:cs typeface="+mn-cs"/>
              </a:rPr>
              <a:t>Servicerobotik/</a:t>
            </a:r>
            <a:r>
              <a:rPr lang="de-DE" sz="1200" kern="1200" dirty="0">
                <a:solidFill>
                  <a:schemeClr val="tx1"/>
                </a:solidFill>
                <a:latin typeface="Frutiger LT Com 45 Light" panose="020B0303030504020204" pitchFamily="34" charset="0"/>
                <a:ea typeface="+mn-ea"/>
                <a:cs typeface="+mn-cs"/>
              </a:rPr>
              <a:t>Bildverarbeitung für Robotik</a:t>
            </a:r>
            <a:r>
              <a:rPr lang="de-DE" sz="1200" kern="1200" noProof="0" dirty="0">
                <a:solidFill>
                  <a:schemeClr val="tx1"/>
                </a:solidFill>
                <a:latin typeface="Frutiger LT Com 45 Light" panose="020B0303030504020204" pitchFamily="34" charset="0"/>
                <a:ea typeface="+mn-ea"/>
                <a:cs typeface="+mn-cs"/>
              </a:rPr>
              <a:t> SS 2026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5433398" y="6451601"/>
            <a:ext cx="387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noProof="0" dirty="0">
                <a:latin typeface="Frutiger LT Com 45 Light" panose="020B0303030504020204" pitchFamily="34" charset="0"/>
              </a:rPr>
              <a:t>Zwischenpräsentation Projekt 10, </a:t>
            </a:r>
            <a:r>
              <a:rPr lang="en-US" sz="1200" noProof="0" dirty="0">
                <a:latin typeface="Frutiger LT Com 45 Light" panose="020B0303030504020204" pitchFamily="34" charset="0"/>
              </a:rPr>
              <a:t>Sihan Chen, Yuxuan Chen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11183816" y="6451601"/>
            <a:ext cx="454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48E7E1A-9428-4A65-9A82-0771208A7443}" type="slidenum">
              <a:rPr lang="en-US" sz="1200" baseline="0" noProof="0" smtClean="0">
                <a:latin typeface="Frutiger LT Com 45 Light" panose="020B0303030504020204" pitchFamily="34" charset="0"/>
              </a:rPr>
              <a:pPr/>
              <a:t>‹#›</a:t>
            </a:fld>
            <a:endParaRPr lang="en-US" sz="1200" noProof="0" dirty="0">
              <a:latin typeface="Frutiger LT Com 45 Light" panose="020B0303030504020204" pitchFamily="34" charset="0"/>
            </a:endParaRPr>
          </a:p>
        </p:txBody>
      </p:sp>
      <p:sp>
        <p:nvSpPr>
          <p:cNvPr id="7" name="Rechteck 6"/>
          <p:cNvSpPr/>
          <p:nvPr userDrawn="1"/>
        </p:nvSpPr>
        <p:spPr>
          <a:xfrm>
            <a:off x="0" y="639313"/>
            <a:ext cx="11076923" cy="85210"/>
          </a:xfrm>
          <a:prstGeom prst="rect">
            <a:avLst/>
          </a:prstGeom>
          <a:gradFill flip="none" rotWithShape="1">
            <a:gsLst>
              <a:gs pos="0">
                <a:srgbClr val="009377"/>
              </a:gs>
              <a:gs pos="100000">
                <a:srgbClr val="009377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>
              <a:latin typeface="Frutiger LT Com 45 Light" panose="020B0303030504020204" pitchFamily="34" charset="0"/>
            </a:endParaRPr>
          </a:p>
        </p:txBody>
      </p:sp>
      <p:sp>
        <p:nvSpPr>
          <p:cNvPr id="8" name="Rechteck 7"/>
          <p:cNvSpPr/>
          <p:nvPr userDrawn="1"/>
        </p:nvSpPr>
        <p:spPr>
          <a:xfrm flipH="1">
            <a:off x="1125588" y="6264315"/>
            <a:ext cx="11076923" cy="85210"/>
          </a:xfrm>
          <a:prstGeom prst="rect">
            <a:avLst/>
          </a:prstGeom>
          <a:gradFill flip="none" rotWithShape="1">
            <a:gsLst>
              <a:gs pos="0">
                <a:srgbClr val="009377"/>
              </a:gs>
              <a:gs pos="100000">
                <a:srgbClr val="009377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>
              <a:latin typeface="Frutiger LT Com 45 Light" panose="020B0303030504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rgbClr val="4D4D4D"/>
          </a:solidFill>
          <a:latin typeface="Frutiger LT Com 55 Roman" panose="020B0503030504020204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>
          <a:solidFill>
            <a:srgbClr val="4D4D4D"/>
          </a:solidFill>
          <a:latin typeface="Frutiger 55 Roman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800">
          <a:solidFill>
            <a:srgbClr val="4D4D4D"/>
          </a:solidFill>
          <a:latin typeface="Frutiger 55 Roman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800">
          <a:solidFill>
            <a:srgbClr val="4D4D4D"/>
          </a:solidFill>
          <a:latin typeface="Frutiger 55 Roman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800">
          <a:solidFill>
            <a:srgbClr val="4D4D4D"/>
          </a:solidFill>
          <a:latin typeface="Frutiger 55 Roman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rgbClr val="4D4D4D"/>
          </a:solidFill>
          <a:latin typeface="Frutiger 55 Roman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rgbClr val="4D4D4D"/>
          </a:solidFill>
          <a:latin typeface="Frutiger 55 Roman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rgbClr val="4D4D4D"/>
          </a:solidFill>
          <a:latin typeface="Frutiger 55 Roman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rgbClr val="4D4D4D"/>
          </a:solidFill>
          <a:latin typeface="Frutiger 55 Roman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9966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Frutiger LT Com 45 Light" panose="020B0303030504020204" pitchFamily="34" charset="0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339966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Frutiger LT Com 45 Light" panose="020B0303030504020204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9966"/>
        </a:buClr>
        <a:buFont typeface="Symbol" panose="05050102010706020507" pitchFamily="18" charset="2"/>
        <a:buChar char="-"/>
        <a:defRPr sz="2000">
          <a:solidFill>
            <a:schemeClr val="tx1"/>
          </a:solidFill>
          <a:latin typeface="Frutiger LT Com 45 Light" panose="020B0303030504020204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339966"/>
        </a:buClr>
        <a:buFont typeface="Wingdings 2" pitchFamily="18" charset="2"/>
        <a:buChar char="­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9966"/>
        </a:buClr>
        <a:buFont typeface="Wingdings 2" pitchFamily="18" charset="2"/>
        <a:buChar char="­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339966"/>
        </a:buClr>
        <a:buFont typeface="Wingdings 2" pitchFamily="18" charset="2"/>
        <a:buChar char="­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339966"/>
        </a:buClr>
        <a:buFont typeface="Wingdings 2" pitchFamily="18" charset="2"/>
        <a:buChar char="­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339966"/>
        </a:buClr>
        <a:buFont typeface="Wingdings 2" pitchFamily="18" charset="2"/>
        <a:buChar char="­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339966"/>
        </a:buClr>
        <a:buFont typeface="Wingdings 2" pitchFamily="18" charset="2"/>
        <a:buChar char="­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627891" y="733500"/>
            <a:ext cx="10936214" cy="954107"/>
          </a:xfrm>
        </p:spPr>
        <p:txBody>
          <a:bodyPr/>
          <a:lstStyle/>
          <a:p>
            <a:pPr algn="ctr"/>
            <a:r>
              <a:rPr lang="de-DE" dirty="0"/>
              <a:t>Laborprojekt Servicerobotik / Bildverarbeitung für Robotik 2026</a:t>
            </a:r>
            <a:br>
              <a:rPr lang="de-DE" dirty="0"/>
            </a:br>
            <a:r>
              <a:rPr lang="de-DE" dirty="0"/>
              <a:t>Zwischenpräsentation</a:t>
            </a:r>
          </a:p>
        </p:txBody>
      </p:sp>
      <p:sp>
        <p:nvSpPr>
          <p:cNvPr id="5" name="Untertitel 4"/>
          <p:cNvSpPr>
            <a:spLocks noGrp="1"/>
          </p:cNvSpPr>
          <p:nvPr>
            <p:ph type="subTitle" idx="1"/>
          </p:nvPr>
        </p:nvSpPr>
        <p:spPr>
          <a:xfrm>
            <a:off x="3067396" y="5727725"/>
            <a:ext cx="6403979" cy="408515"/>
          </a:xfrm>
        </p:spPr>
        <p:txBody>
          <a:bodyPr/>
          <a:lstStyle/>
          <a:p>
            <a:r>
              <a:rPr lang="de-DE" dirty="0"/>
              <a:t>Bearbeiter: </a:t>
            </a:r>
            <a:r>
              <a:rPr lang="en-US" altLang="zh-CN" dirty="0"/>
              <a:t>Sihan Chen (3872154), Yuxuan Chen (3619935)</a:t>
            </a:r>
            <a:endParaRPr lang="de-DE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41F9B1-3443-5B67-B192-19EA98637E9C}"/>
              </a:ext>
            </a:extLst>
          </p:cNvPr>
          <p:cNvSpPr txBox="1"/>
          <p:nvPr/>
        </p:nvSpPr>
        <p:spPr>
          <a:xfrm>
            <a:off x="1212956" y="1690645"/>
            <a:ext cx="97660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2800" dirty="0">
                <a:solidFill>
                  <a:srgbClr val="4D4D4D"/>
                </a:solidFill>
                <a:latin typeface="Frutiger LT Com 55 Roman" panose="020B0503030504020204" pitchFamily="34" charset="0"/>
                <a:ea typeface="+mj-ea"/>
                <a:cs typeface="+mj-cs"/>
              </a:rPr>
              <a:t>Projekt 10: </a:t>
            </a:r>
            <a:r>
              <a:rPr lang="en-US" altLang="zh-CN" sz="2800" dirty="0">
                <a:solidFill>
                  <a:srgbClr val="4D4D4D"/>
                </a:solidFill>
                <a:latin typeface="Frutiger LT Com 55 Roman" panose="020B0503030504020204" pitchFamily="34" charset="0"/>
                <a:ea typeface="+mj-ea"/>
                <a:cs typeface="+mj-cs"/>
              </a:rPr>
              <a:t>Enhance Robustness in Adverse Weather Conditions</a:t>
            </a:r>
            <a:endParaRPr lang="de-DE" sz="2800" dirty="0">
              <a:solidFill>
                <a:srgbClr val="4D4D4D"/>
              </a:solidFill>
              <a:latin typeface="Frutiger LT Com 55 Roman" panose="020B0503030504020204" pitchFamily="34" charset="0"/>
              <a:ea typeface="+mj-ea"/>
              <a:cs typeface="+mj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6EB2466-E5EC-1DCB-5628-A712C5C195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56"/>
          <a:stretch>
            <a:fillRect/>
          </a:stretch>
        </p:blipFill>
        <p:spPr>
          <a:xfrm>
            <a:off x="3461491" y="2303875"/>
            <a:ext cx="5269017" cy="337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87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200345" y="1226150"/>
            <a:ext cx="7245805" cy="4003050"/>
          </a:xfrm>
        </p:spPr>
        <p:txBody>
          <a:bodyPr>
            <a:normAutofit/>
          </a:bodyPr>
          <a:lstStyle/>
          <a:p>
            <a:r>
              <a:rPr lang="en-US" dirty="0"/>
              <a:t>Problem: Camera Perception Failure </a:t>
            </a:r>
          </a:p>
          <a:p>
            <a:pPr lvl="1"/>
            <a:r>
              <a:rPr lang="en-US" sz="1600" dirty="0"/>
              <a:t>Adverse weather (rain, snow, fog) severely degrades image quality. </a:t>
            </a:r>
          </a:p>
          <a:p>
            <a:pPr lvl="1"/>
            <a:r>
              <a:rPr lang="en-US" sz="1600" dirty="0"/>
              <a:t>Leads to detection failures and real-world safety risks.</a:t>
            </a:r>
          </a:p>
          <a:p>
            <a:endParaRPr lang="en-US" sz="1800" dirty="0"/>
          </a:p>
          <a:p>
            <a:r>
              <a:rPr lang="en-US" dirty="0"/>
              <a:t>Why It Matters: The "Clear-Weather" Gap </a:t>
            </a:r>
          </a:p>
          <a:p>
            <a:pPr lvl="1"/>
            <a:r>
              <a:rPr lang="en-US" sz="1600" dirty="0"/>
              <a:t>Models are biased toward ideal clear-weather training data. </a:t>
            </a:r>
          </a:p>
          <a:p>
            <a:pPr lvl="1"/>
            <a:r>
              <a:rPr lang="en-US" sz="1600" dirty="0"/>
              <a:t>Systematic degradation under adverse conditions remains underexplored.</a:t>
            </a:r>
          </a:p>
          <a:p>
            <a:endParaRPr lang="en-US" sz="1800" dirty="0"/>
          </a:p>
          <a:p>
            <a:r>
              <a:rPr lang="en-US" dirty="0"/>
              <a:t>Our Contribution: Retraining-Free Accuracy Recovery </a:t>
            </a:r>
          </a:p>
          <a:p>
            <a:pPr lvl="1"/>
            <a:r>
              <a:rPr lang="en-US" sz="1600" dirty="0"/>
              <a:t>Quantify YOLOv8m performance loss on BDD100K under adverse weather. </a:t>
            </a:r>
          </a:p>
          <a:p>
            <a:pPr lvl="1"/>
            <a:r>
              <a:rPr lang="en-US" sz="1600" dirty="0"/>
              <a:t>Apply lightweight preprocessing (MSRCR, CLAHE) to recover lost accuracy.</a:t>
            </a:r>
            <a:endParaRPr lang="de-DE" sz="1600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FDAEB94-5E9C-4F3D-1949-BF696CD1AD6D}"/>
              </a:ext>
            </a:extLst>
          </p:cNvPr>
          <p:cNvGrpSpPr/>
          <p:nvPr/>
        </p:nvGrpSpPr>
        <p:grpSpPr>
          <a:xfrm>
            <a:off x="7536160" y="863715"/>
            <a:ext cx="3844911" cy="4885276"/>
            <a:chOff x="7536160" y="926682"/>
            <a:chExt cx="3844911" cy="488527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62B6B190-9A7C-1E9B-DFEB-FC3A1EF5222F}"/>
                </a:ext>
              </a:extLst>
            </p:cNvPr>
            <p:cNvGrpSpPr/>
            <p:nvPr/>
          </p:nvGrpSpPr>
          <p:grpSpPr>
            <a:xfrm>
              <a:off x="7536160" y="926682"/>
              <a:ext cx="3844910" cy="2412308"/>
              <a:chOff x="7536160" y="744354"/>
              <a:chExt cx="3844910" cy="2412308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CC2DC337-B7F5-31F7-4AED-03A949CB71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435" r="50000" b="1"/>
              <a:stretch>
                <a:fillRect/>
              </a:stretch>
            </p:blipFill>
            <p:spPr>
              <a:xfrm>
                <a:off x="7536160" y="998730"/>
                <a:ext cx="3844910" cy="2157932"/>
              </a:xfrm>
              <a:prstGeom prst="rect">
                <a:avLst/>
              </a:prstGeom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E4FE000-E2D5-0C8B-B62B-6C5F8C65283B}"/>
                  </a:ext>
                </a:extLst>
              </p:cNvPr>
              <p:cNvSpPr txBox="1"/>
              <p:nvPr/>
            </p:nvSpPr>
            <p:spPr>
              <a:xfrm>
                <a:off x="8880181" y="744354"/>
                <a:ext cx="12842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Clean Weather</a:t>
                </a:r>
                <a:endParaRPr lang="de-DE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3101C519-D5AF-785F-FFD7-140B17FAAE2E}"/>
                </a:ext>
              </a:extLst>
            </p:cNvPr>
            <p:cNvGrpSpPr/>
            <p:nvPr/>
          </p:nvGrpSpPr>
          <p:grpSpPr>
            <a:xfrm>
              <a:off x="7536160" y="3411038"/>
              <a:ext cx="3844911" cy="2400920"/>
              <a:chOff x="7536160" y="3411038"/>
              <a:chExt cx="3844911" cy="2400920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9F734EFF-0EF5-E898-B93A-015CF7B7AA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15435"/>
              <a:stretch>
                <a:fillRect/>
              </a:stretch>
            </p:blipFill>
            <p:spPr>
              <a:xfrm>
                <a:off x="7536160" y="3654026"/>
                <a:ext cx="3844911" cy="2157932"/>
              </a:xfrm>
              <a:prstGeom prst="rect">
                <a:avLst/>
              </a:prstGeom>
            </p:spPr>
          </p:pic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D357E12-01C2-AE08-F8B6-05D98FEBFDDE}"/>
                  </a:ext>
                </a:extLst>
              </p:cNvPr>
              <p:cNvSpPr txBox="1"/>
              <p:nvPr/>
            </p:nvSpPr>
            <p:spPr>
              <a:xfrm>
                <a:off x="8785924" y="3411038"/>
                <a:ext cx="14727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Adverse Weather</a:t>
                </a:r>
                <a:endParaRPr lang="de-DE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569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</a:t>
            </a:r>
            <a:r>
              <a:rPr lang="en-US" dirty="0"/>
              <a:t>: BDD100K Dataset </a:t>
            </a:r>
            <a:endParaRPr lang="de-DE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CE082FA-D5B4-0155-A555-8C31C55F97A8}"/>
              </a:ext>
            </a:extLst>
          </p:cNvPr>
          <p:cNvSpPr txBox="1"/>
          <p:nvPr/>
        </p:nvSpPr>
        <p:spPr>
          <a:xfrm>
            <a:off x="380365" y="5113348"/>
            <a:ext cx="8775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+mn-lt"/>
              </a:rPr>
              <a:t>Weather distribution: clear (37K) | overcast (8.8K) | undefined (8.1K) | snowy (5.5K) | rainy (5.1K) | partly cloudy (4.9K) | foggy (130)</a:t>
            </a:r>
            <a:endParaRPr lang="en-US" sz="1200" b="0" dirty="0">
              <a:latin typeface="+mn-lt"/>
            </a:endParaRPr>
          </a:p>
          <a:p>
            <a:pPr algn="l"/>
            <a:endParaRPr lang="en-US" sz="1200" b="0" dirty="0">
              <a:latin typeface="+mn-lt"/>
            </a:endParaRPr>
          </a:p>
          <a:p>
            <a:pPr algn="l"/>
            <a:r>
              <a:rPr sz="1200" b="0" dirty="0">
                <a:latin typeface="+mn-lt"/>
              </a:rPr>
              <a:t>Note: foggy has only 130 samples</a:t>
            </a:r>
            <a:r>
              <a:rPr lang="en-US" sz="1200" b="0" dirty="0">
                <a:latin typeface="+mn-lt"/>
              </a:rPr>
              <a:t>:</a:t>
            </a:r>
            <a:r>
              <a:rPr sz="1200" b="0" dirty="0">
                <a:latin typeface="+mn-lt"/>
              </a:rPr>
              <a:t> severely underrepresented, results on fog are anecdotal.</a:t>
            </a:r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2BA6E88C-C9A3-9994-B52D-2B8472558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608077"/>
              </p:ext>
            </p:extLst>
          </p:nvPr>
        </p:nvGraphicFramePr>
        <p:xfrm>
          <a:off x="457201" y="1097279"/>
          <a:ext cx="5008729" cy="3726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7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3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+mn-lt"/>
                        </a:rPr>
                        <a:t>Property</a:t>
                      </a:r>
                    </a:p>
                  </a:txBody>
                  <a:tcPr marL="114300" marR="114300" marT="114300" marB="114300"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+mn-lt"/>
                        </a:rPr>
                        <a:t>Value</a:t>
                      </a:r>
                    </a:p>
                  </a:txBody>
                  <a:tcPr marL="114300" marR="114300" marT="114300" marB="114300" anchor="ctr"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4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333333"/>
                          </a:solidFill>
                          <a:latin typeface="+mn-lt"/>
                        </a:rPr>
                        <a:t>Dataset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BDD100K (Berkeley DeepDrive 100K)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4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333333"/>
                          </a:solidFill>
                          <a:latin typeface="+mn-lt"/>
                        </a:rPr>
                        <a:t>Total Images</a:t>
                      </a:r>
                    </a:p>
                  </a:txBody>
                  <a:tcPr marL="114300" marR="114300" marT="114300" marB="114300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100K: 70K train + 10K val + 20K test</a:t>
                      </a:r>
                    </a:p>
                  </a:txBody>
                  <a:tcPr marL="114300" marR="114300" marT="114300" marB="114300"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Resolution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1280 × 720 pixels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Classes Used</a:t>
                      </a:r>
                    </a:p>
                  </a:txBody>
                  <a:tcPr marL="114300" marR="114300" marT="114300" marB="114300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333333"/>
                          </a:solidFill>
                          <a:latin typeface="+mn-lt"/>
                        </a:rPr>
                        <a:t>7: person, bicycle, car, motorcycle, bus, train, truck</a:t>
                      </a:r>
                    </a:p>
                  </a:txBody>
                  <a:tcPr marL="114300" marR="114300" marT="114300" marB="114300"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Clean Split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333333"/>
                          </a:solidFill>
                          <a:latin typeface="+mn-lt"/>
                        </a:rPr>
                        <a:t>clear + overcast + partly cloudy + sunny (~54K images)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Adverse Split</a:t>
                      </a:r>
                    </a:p>
                  </a:txBody>
                  <a:tcPr marL="114300" marR="114300" marT="114300" marB="114300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333333"/>
                          </a:solidFill>
                          <a:latin typeface="+mn-lt"/>
                        </a:rPr>
                        <a:t>rainy + snowy + foggy (~12K images)</a:t>
                      </a:r>
                    </a:p>
                  </a:txBody>
                  <a:tcPr marL="114300" marR="114300" marT="114300" marB="114300"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749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Evaluation Subset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333333"/>
                          </a:solidFill>
                          <a:latin typeface="+mn-lt"/>
                        </a:rPr>
                        <a:t>2000</a:t>
                      </a:r>
                      <a:r>
                        <a:rPr sz="1200" dirty="0">
                          <a:solidFill>
                            <a:srgbClr val="333333"/>
                          </a:solidFill>
                          <a:latin typeface="+mn-lt"/>
                        </a:rPr>
                        <a:t> clean + </a:t>
                      </a:r>
                      <a:r>
                        <a:rPr sz="1200" b="1" dirty="0">
                          <a:solidFill>
                            <a:srgbClr val="333333"/>
                          </a:solidFill>
                          <a:latin typeface="+mn-lt"/>
                        </a:rPr>
                        <a:t>2000</a:t>
                      </a:r>
                      <a:r>
                        <a:rPr sz="1200" dirty="0">
                          <a:solidFill>
                            <a:srgbClr val="333333"/>
                          </a:solidFill>
                          <a:latin typeface="+mn-lt"/>
                        </a:rPr>
                        <a:t> adverse </a:t>
                      </a:r>
                      <a:endParaRPr lang="en-US" sz="12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  <a:p>
                      <a:pPr algn="ctr"/>
                      <a:r>
                        <a:rPr sz="1200" dirty="0">
                          <a:solidFill>
                            <a:srgbClr val="333333"/>
                          </a:solidFill>
                          <a:latin typeface="+mn-lt"/>
                        </a:rPr>
                        <a:t>(balanced across weather types)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F744ED1C-A59F-9289-4E46-98421BA69F40}"/>
              </a:ext>
            </a:extLst>
          </p:cNvPr>
          <p:cNvGrpSpPr/>
          <p:nvPr/>
        </p:nvGrpSpPr>
        <p:grpSpPr>
          <a:xfrm>
            <a:off x="5600945" y="953725"/>
            <a:ext cx="6424808" cy="3927109"/>
            <a:chOff x="5012650" y="889970"/>
            <a:chExt cx="6812478" cy="4280757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BB3CA744-90DC-7B0A-E4C7-7DD244993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32" r="53186" b="47374"/>
            <a:stretch>
              <a:fillRect/>
            </a:stretch>
          </p:blipFill>
          <p:spPr>
            <a:xfrm>
              <a:off x="5012650" y="889970"/>
              <a:ext cx="3426844" cy="2070231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F9C617B7-CD89-0260-2E64-B8E2C3E2A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407" r="53187"/>
            <a:stretch>
              <a:fillRect/>
            </a:stretch>
          </p:blipFill>
          <p:spPr>
            <a:xfrm>
              <a:off x="5012650" y="3100496"/>
              <a:ext cx="3426844" cy="2070231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33E7AAB7-2768-19F8-7E4F-CE2145C7A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02" t="6688" b="46718"/>
            <a:stretch>
              <a:fillRect/>
            </a:stretch>
          </p:blipFill>
          <p:spPr>
            <a:xfrm>
              <a:off x="8367687" y="908720"/>
              <a:ext cx="3440335" cy="2070231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EA592294-AC3D-B8E1-3C45-F601E99B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02" t="53407"/>
            <a:stretch>
              <a:fillRect/>
            </a:stretch>
          </p:blipFill>
          <p:spPr>
            <a:xfrm>
              <a:off x="8384793" y="3099011"/>
              <a:ext cx="3440335" cy="20702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4667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D34D6-42EE-6F66-98E2-A869D992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CB7EB4-5D4C-125E-39E9-DE492E7DF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</a:t>
            </a:r>
            <a:r>
              <a:rPr lang="en-US" dirty="0"/>
              <a:t>: Two-Phase Methodology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21545F-3E52-534B-BF82-EAC5794C8C7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50395" y="911115"/>
            <a:ext cx="6123485" cy="4588115"/>
          </a:xfrm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800" b="1" dirty="0">
                <a:solidFill>
                  <a:srgbClr val="333333"/>
                </a:solidFill>
                <a:latin typeface="+mn-lt"/>
              </a:rPr>
              <a:t>Phase 1</a:t>
            </a:r>
            <a:r>
              <a:rPr lang="en-US" sz="1800" b="1" dirty="0">
                <a:solidFill>
                  <a:srgbClr val="333333"/>
                </a:solidFill>
                <a:latin typeface="+mn-lt"/>
              </a:rPr>
              <a:t>:</a:t>
            </a:r>
            <a:r>
              <a:rPr sz="1800" b="1" dirty="0">
                <a:solidFill>
                  <a:srgbClr val="333333"/>
                </a:solidFill>
                <a:latin typeface="+mn-lt"/>
              </a:rPr>
              <a:t> Baseline Quantification</a:t>
            </a:r>
            <a:endParaRPr lang="en-US" sz="1800" b="1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+mn-lt"/>
              </a:rPr>
              <a:t>YOLOv8m evaluated on 2,000 clean vs 2,000 adverse BDD100K images</a:t>
            </a:r>
            <a:endParaRPr lang="en-US" sz="1300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+mn-lt"/>
              </a:rPr>
              <a:t>Per-class AP@0.5 comparison → measure weather-induced degradation</a:t>
            </a:r>
            <a:endParaRPr lang="en-US" sz="1300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+mn-lt"/>
              </a:rPr>
              <a:t>Per-weather breakdown: snowy, rainy, foggy</a:t>
            </a:r>
          </a:p>
          <a:p>
            <a:pPr>
              <a:spcAft>
                <a:spcPts val="800"/>
              </a:spcAft>
            </a:pPr>
            <a:endParaRPr sz="1300" dirty="0">
              <a:solidFill>
                <a:srgbClr val="333333"/>
              </a:solidFill>
              <a:latin typeface="+mn-lt"/>
            </a:endParaRPr>
          </a:p>
          <a:p>
            <a:pPr>
              <a:spcAft>
                <a:spcPts val="200"/>
              </a:spcAft>
            </a:pPr>
            <a:r>
              <a:rPr sz="1800" b="1" dirty="0">
                <a:solidFill>
                  <a:srgbClr val="333333"/>
                </a:solidFill>
                <a:latin typeface="+mn-lt"/>
              </a:rPr>
              <a:t>Phase 2</a:t>
            </a:r>
            <a:r>
              <a:rPr lang="en-US" sz="1800" b="1" dirty="0">
                <a:solidFill>
                  <a:srgbClr val="333333"/>
                </a:solidFill>
                <a:latin typeface="+mn-lt"/>
              </a:rPr>
              <a:t>:</a:t>
            </a:r>
            <a:r>
              <a:rPr sz="1800" b="1" dirty="0">
                <a:solidFill>
                  <a:srgbClr val="333333"/>
                </a:solidFill>
                <a:latin typeface="+mn-lt"/>
              </a:rPr>
              <a:t> Preprocessing Recovery</a:t>
            </a:r>
            <a:endParaRPr lang="en-US" sz="1800" b="1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+mn-lt"/>
              </a:rPr>
              <a:t>Apply MSRCR &amp; CLAHE to adverse images before inference</a:t>
            </a:r>
            <a:endParaRPr lang="en-US" sz="1300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+mn-lt"/>
              </a:rPr>
              <a:t>Compare </a:t>
            </a:r>
            <a:r>
              <a:rPr sz="1300" dirty="0" err="1">
                <a:solidFill>
                  <a:srgbClr val="333333"/>
                </a:solidFill>
                <a:latin typeface="+mn-lt"/>
              </a:rPr>
              <a:t>mAP</a:t>
            </a:r>
            <a:r>
              <a:rPr sz="1300" dirty="0">
                <a:solidFill>
                  <a:srgbClr val="333333"/>
                </a:solidFill>
                <a:latin typeface="+mn-lt"/>
              </a:rPr>
              <a:t> against raw adverse → measure recovery rate</a:t>
            </a:r>
            <a:endParaRPr lang="en-US" sz="1300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+mn-lt"/>
              </a:rPr>
              <a:t>No model retraining required</a:t>
            </a:r>
            <a:r>
              <a:rPr lang="en-US" sz="1300" dirty="0">
                <a:solidFill>
                  <a:srgbClr val="333333"/>
                </a:solidFill>
                <a:latin typeface="+mn-lt"/>
              </a:rPr>
              <a:t>:</a:t>
            </a:r>
            <a:r>
              <a:rPr sz="1300" dirty="0">
                <a:solidFill>
                  <a:srgbClr val="333333"/>
                </a:solidFill>
                <a:latin typeface="+mn-lt"/>
              </a:rPr>
              <a:t> lightweight, deployable solution</a:t>
            </a:r>
          </a:p>
          <a:p>
            <a:pPr>
              <a:spcAft>
                <a:spcPts val="800"/>
              </a:spcAft>
            </a:pPr>
            <a:endParaRPr lang="en-US" sz="1300" dirty="0">
              <a:solidFill>
                <a:srgbClr val="333333"/>
              </a:solidFill>
              <a:latin typeface="+mn-lt"/>
            </a:endParaRPr>
          </a:p>
          <a:p>
            <a:pPr>
              <a:spcAft>
                <a:spcPts val="200"/>
              </a:spcAft>
            </a:pPr>
            <a:r>
              <a:rPr lang="en-US" sz="1800" b="1" dirty="0">
                <a:solidFill>
                  <a:srgbClr val="333333"/>
                </a:solidFill>
                <a:latin typeface="+mn-lt"/>
              </a:rPr>
              <a:t>Evaluation Pipeline</a:t>
            </a:r>
          </a:p>
          <a:p>
            <a:pPr lvl="1">
              <a:spcAft>
                <a:spcPts val="200"/>
              </a:spcAft>
            </a:pPr>
            <a:r>
              <a:rPr lang="en-US" sz="1300" dirty="0">
                <a:solidFill>
                  <a:srgbClr val="333333"/>
                </a:solidFill>
                <a:latin typeface="+mn-lt"/>
              </a:rPr>
              <a:t>BDD100K DSDL → YOLO label format + weather-condition split</a:t>
            </a:r>
          </a:p>
          <a:p>
            <a:pPr lvl="1">
              <a:spcAft>
                <a:spcPts val="200"/>
              </a:spcAft>
            </a:pPr>
            <a:r>
              <a:rPr lang="en-US" sz="1300" dirty="0">
                <a:solidFill>
                  <a:srgbClr val="333333"/>
                </a:solidFill>
                <a:latin typeface="+mn-lt"/>
              </a:rPr>
              <a:t>YOLOv8m batch inference (stream=True, conf=0.25) → JSON predictions</a:t>
            </a:r>
          </a:p>
          <a:p>
            <a:pPr lvl="1">
              <a:spcAft>
                <a:spcPts val="200"/>
              </a:spcAft>
            </a:pPr>
            <a:r>
              <a:rPr lang="en-US" sz="1300" dirty="0" err="1">
                <a:solidFill>
                  <a:srgbClr val="333333"/>
                </a:solidFill>
                <a:latin typeface="+mn-lt"/>
              </a:rPr>
              <a:t>IoU</a:t>
            </a:r>
            <a:r>
              <a:rPr lang="en-US" sz="1300" dirty="0">
                <a:solidFill>
                  <a:srgbClr val="333333"/>
                </a:solidFill>
                <a:latin typeface="+mn-lt"/>
              </a:rPr>
              <a:t>-based matching (</a:t>
            </a:r>
            <a:r>
              <a:rPr lang="en-US" sz="1300" dirty="0" err="1">
                <a:solidFill>
                  <a:srgbClr val="333333"/>
                </a:solidFill>
                <a:latin typeface="+mn-lt"/>
              </a:rPr>
              <a:t>gt</a:t>
            </a:r>
            <a:r>
              <a:rPr lang="en-US" sz="1300" dirty="0">
                <a:solidFill>
                  <a:srgbClr val="333333"/>
                </a:solidFill>
                <a:latin typeface="+mn-lt"/>
              </a:rPr>
              <a:t> ↔ pred @ 0.5) → Per-class AP computation</a:t>
            </a:r>
          </a:p>
          <a:p>
            <a:pPr lvl="1">
              <a:spcAft>
                <a:spcPts val="200"/>
              </a:spcAft>
            </a:pPr>
            <a:r>
              <a:rPr lang="en-US" sz="1300" dirty="0">
                <a:solidFill>
                  <a:srgbClr val="333333"/>
                </a:solidFill>
                <a:latin typeface="+mn-lt"/>
              </a:rPr>
              <a:t>Chart generation</a:t>
            </a:r>
            <a:endParaRPr sz="1300" dirty="0">
              <a:solidFill>
                <a:srgbClr val="333333"/>
              </a:solidFill>
              <a:latin typeface="Calibri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0A1225-5360-9E84-5A39-058CF73817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4"/>
          <a:stretch>
            <a:fillRect/>
          </a:stretch>
        </p:blipFill>
        <p:spPr>
          <a:xfrm>
            <a:off x="7311135" y="755529"/>
            <a:ext cx="3015335" cy="546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30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FBC1-BDB0-965E-0E7C-B42ED90D1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3FABE3-B2BD-9053-8A15-D108AB010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</a:t>
            </a:r>
            <a:r>
              <a:rPr lang="en-US" dirty="0"/>
              <a:t>: Preprocessing Methods</a:t>
            </a:r>
            <a:endParaRPr lang="de-DE" dirty="0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001D42D2-AAE2-77E0-0F96-B7521897B6A2}"/>
              </a:ext>
            </a:extLst>
          </p:cNvPr>
          <p:cNvSpPr txBox="1"/>
          <p:nvPr/>
        </p:nvSpPr>
        <p:spPr>
          <a:xfrm>
            <a:off x="345633" y="54092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Both methods operate on input images only</a:t>
            </a:r>
            <a:r>
              <a:rPr lang="en-US" sz="1200" b="0" dirty="0">
                <a:latin typeface="Calibri"/>
              </a:rPr>
              <a:t>: </a:t>
            </a:r>
            <a:r>
              <a:rPr sz="1200" b="0" dirty="0">
                <a:latin typeface="Calibri"/>
              </a:rPr>
              <a:t>no model retraining or architecture changes needed. This makes them practical for real-time autonomous driving pipelines where model updates are expensive and safety-critical.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A0F8531-33AD-2A7E-EF45-A9FF7F08F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06"/>
          <a:stretch>
            <a:fillRect/>
          </a:stretch>
        </p:blipFill>
        <p:spPr>
          <a:xfrm>
            <a:off x="345633" y="2893973"/>
            <a:ext cx="10745922" cy="2291323"/>
          </a:xfrm>
          <a:prstGeom prst="rect">
            <a:avLst/>
          </a:prstGeom>
        </p:spPr>
      </p:pic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DD288619-2C4F-DC64-FAC0-750D52F943D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5350" y="1043735"/>
            <a:ext cx="5940660" cy="2025225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lang="en-US" sz="1600" b="1" kern="1200" dirty="0">
                <a:solidFill>
                  <a:srgbClr val="333333"/>
                </a:solidFill>
                <a:latin typeface="Calibri"/>
              </a:rPr>
              <a:t>MSRCR: Multi-Scale </a:t>
            </a:r>
            <a:r>
              <a:rPr lang="en-US" sz="1600" b="1" kern="1200" dirty="0" err="1">
                <a:solidFill>
                  <a:srgbClr val="333333"/>
                </a:solidFill>
                <a:latin typeface="Calibri"/>
              </a:rPr>
              <a:t>Retinex</a:t>
            </a:r>
            <a:r>
              <a:rPr lang="en-US" sz="1600" b="1" kern="1200" dirty="0">
                <a:solidFill>
                  <a:srgbClr val="333333"/>
                </a:solidFill>
                <a:latin typeface="Calibri"/>
              </a:rPr>
              <a:t> with Color Restoration</a:t>
            </a:r>
          </a:p>
          <a:p>
            <a:pPr lvl="1">
              <a:spcAft>
                <a:spcPts val="400"/>
              </a:spcAft>
            </a:pPr>
            <a:r>
              <a:rPr lang="en-US" altLang="zh-CN" sz="1200" dirty="0" err="1">
                <a:solidFill>
                  <a:srgbClr val="333333"/>
                </a:solidFill>
                <a:latin typeface="Calibri"/>
              </a:rPr>
              <a:t>Retinex</a:t>
            </a:r>
            <a:r>
              <a:rPr lang="en-US" altLang="zh-CN" sz="1200" dirty="0">
                <a:solidFill>
                  <a:srgbClr val="333333"/>
                </a:solidFill>
                <a:latin typeface="Calibri"/>
              </a:rPr>
              <a:t> theory: image = illumination × reflectance</a:t>
            </a:r>
          </a:p>
          <a:p>
            <a:pPr lvl="1">
              <a:spcAft>
                <a:spcPts val="400"/>
              </a:spcAft>
            </a:pPr>
            <a:r>
              <a:rPr lang="en-US" altLang="zh-CN" sz="1200" dirty="0">
                <a:solidFill>
                  <a:srgbClr val="333333"/>
                </a:solidFill>
                <a:latin typeface="Calibri"/>
              </a:rPr>
              <a:t>3-scale Gaussian surround (</a:t>
            </a:r>
            <a:r>
              <a:rPr lang="el-GR" altLang="zh-CN" sz="1200" dirty="0">
                <a:solidFill>
                  <a:srgbClr val="333333"/>
                </a:solidFill>
                <a:latin typeface="Calibri"/>
              </a:rPr>
              <a:t>σ = 15, 80, 250)</a:t>
            </a:r>
            <a:endParaRPr lang="en-US" altLang="zh-CN" sz="1200" dirty="0">
              <a:solidFill>
                <a:srgbClr val="333333"/>
              </a:solidFill>
              <a:latin typeface="Calibri"/>
            </a:endParaRPr>
          </a:p>
          <a:p>
            <a:pPr lvl="1">
              <a:spcAft>
                <a:spcPts val="400"/>
              </a:spcAft>
            </a:pPr>
            <a:r>
              <a:rPr lang="en-US" altLang="zh-CN" sz="1200" dirty="0">
                <a:solidFill>
                  <a:srgbClr val="333333"/>
                </a:solidFill>
                <a:latin typeface="Calibri"/>
              </a:rPr>
              <a:t>Color restoration to prevent graying</a:t>
            </a:r>
          </a:p>
          <a:p>
            <a:pPr lvl="1">
              <a:spcAft>
                <a:spcPts val="400"/>
              </a:spcAft>
            </a:pPr>
            <a:r>
              <a:rPr lang="en-US" altLang="zh-CN" sz="1200" dirty="0">
                <a:solidFill>
                  <a:srgbClr val="333333"/>
                </a:solidFill>
                <a:latin typeface="Calibri"/>
              </a:rPr>
              <a:t>GPU-accelerated via </a:t>
            </a:r>
            <a:r>
              <a:rPr lang="en-US" altLang="zh-CN" sz="1200" dirty="0" err="1">
                <a:solidFill>
                  <a:srgbClr val="333333"/>
                </a:solidFill>
                <a:latin typeface="Calibri"/>
              </a:rPr>
              <a:t>PyTorch</a:t>
            </a:r>
            <a:r>
              <a:rPr lang="en-US" altLang="zh-CN" sz="1200" dirty="0">
                <a:solidFill>
                  <a:srgbClr val="333333"/>
                </a:solidFill>
                <a:latin typeface="Calibri"/>
              </a:rPr>
              <a:t> separable convolution</a:t>
            </a:r>
          </a:p>
          <a:p>
            <a:pPr lvl="1">
              <a:spcAft>
                <a:spcPts val="400"/>
              </a:spcAft>
            </a:pPr>
            <a:r>
              <a:rPr lang="en-US" altLang="zh-CN" sz="1200" dirty="0">
                <a:solidFill>
                  <a:srgbClr val="333333"/>
                </a:solidFill>
                <a:latin typeface="Calibri"/>
              </a:rPr>
              <a:t>Parameters: </a:t>
            </a:r>
            <a:r>
              <a:rPr lang="el-GR" altLang="zh-CN" sz="1200" dirty="0">
                <a:solidFill>
                  <a:srgbClr val="333333"/>
                </a:solidFill>
                <a:latin typeface="Calibri"/>
              </a:rPr>
              <a:t>α = 125, β = 46</a:t>
            </a:r>
            <a:endParaRPr lang="en-US" altLang="zh-CN" sz="1200" dirty="0">
              <a:solidFill>
                <a:srgbClr val="333333"/>
              </a:solidFill>
              <a:latin typeface="Calibri"/>
            </a:endParaRPr>
          </a:p>
          <a:p>
            <a:pPr marL="457200" lvl="1" indent="0">
              <a:spcAft>
                <a:spcPts val="400"/>
              </a:spcAft>
              <a:buNone/>
            </a:pPr>
            <a:endParaRPr sz="1400" dirty="0">
              <a:solidFill>
                <a:srgbClr val="333333"/>
              </a:solidFill>
              <a:latin typeface="+mn-lt"/>
            </a:endParaRP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4A50371-33F0-5341-A03C-D9625EA29ECE}"/>
              </a:ext>
            </a:extLst>
          </p:cNvPr>
          <p:cNvSpPr txBox="1">
            <a:spLocks/>
          </p:cNvSpPr>
          <p:nvPr/>
        </p:nvSpPr>
        <p:spPr>
          <a:xfrm>
            <a:off x="5555940" y="1043735"/>
            <a:ext cx="5940660" cy="20252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Frutiger LT Com 45 Light" panose="020B030303050402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Frutiger LT Com 45 Light" panose="020B0303030504020204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 2" pitchFamily="18" charset="2"/>
              <a:buChar char=""/>
              <a:defRPr sz="1600">
                <a:solidFill>
                  <a:schemeClr val="tx1"/>
                </a:solidFill>
                <a:latin typeface="Frutiger LT Com 45 Light" panose="020B0303030504020204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 2" pitchFamily="18" charset="2"/>
              <a:buChar char=""/>
              <a:defRPr sz="1400">
                <a:solidFill>
                  <a:schemeClr val="tx1"/>
                </a:solidFill>
                <a:latin typeface="Frutiger LT Com 45 Light" panose="020B0303030504020204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 2" pitchFamily="18" charset="2"/>
              <a:buChar char=""/>
              <a:defRPr sz="1400">
                <a:solidFill>
                  <a:schemeClr val="tx1"/>
                </a:solidFill>
                <a:latin typeface="Frutiger LT Com 45 Light" panose="020B0303030504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 2" pitchFamily="18" charset="2"/>
              <a:buChar char="­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 2" pitchFamily="18" charset="2"/>
              <a:buChar char="­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 2" pitchFamily="18" charset="2"/>
              <a:buChar char="­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 2" pitchFamily="18" charset="2"/>
              <a:buChar char="­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Aft>
                <a:spcPts val="400"/>
              </a:spcAft>
            </a:pPr>
            <a:r>
              <a:rPr lang="en-US" sz="1600" b="1" dirty="0">
                <a:solidFill>
                  <a:srgbClr val="333333"/>
                </a:solidFill>
                <a:latin typeface="Calibri"/>
              </a:rPr>
              <a:t>CLAHE: Contrast Limited Adaptive Histogram Equalization</a:t>
            </a:r>
          </a:p>
          <a:p>
            <a:pPr lvl="1">
              <a:spcAft>
                <a:spcPts val="400"/>
              </a:spcAft>
            </a:pPr>
            <a:r>
              <a:rPr lang="en-US" altLang="zh-CN" sz="1200" dirty="0">
                <a:solidFill>
                  <a:srgbClr val="333333"/>
                </a:solidFill>
                <a:latin typeface="Calibri"/>
              </a:rPr>
              <a:t>Operates on L-channel of LAB color space</a:t>
            </a:r>
          </a:p>
          <a:p>
            <a:pPr lvl="1">
              <a:spcAft>
                <a:spcPts val="400"/>
              </a:spcAft>
            </a:pPr>
            <a:r>
              <a:rPr lang="en-US" altLang="zh-CN" sz="1200" dirty="0">
                <a:solidFill>
                  <a:srgbClr val="333333"/>
                </a:solidFill>
                <a:latin typeface="Calibri"/>
              </a:rPr>
              <a:t>Adaptive histogram equalization in 8×8 tiles</a:t>
            </a:r>
          </a:p>
          <a:p>
            <a:pPr lvl="1">
              <a:spcAft>
                <a:spcPts val="400"/>
              </a:spcAft>
            </a:pPr>
            <a:r>
              <a:rPr lang="en-US" altLang="zh-CN" sz="1200" dirty="0">
                <a:solidFill>
                  <a:srgbClr val="333333"/>
                </a:solidFill>
                <a:latin typeface="Calibri"/>
              </a:rPr>
              <a:t>Contrast clip limit = 2.0 (prevents noise amplification)</a:t>
            </a:r>
          </a:p>
          <a:p>
            <a:pPr lvl="1">
              <a:spcAft>
                <a:spcPts val="400"/>
              </a:spcAft>
            </a:pPr>
            <a:r>
              <a:rPr lang="en-US" altLang="zh-CN" sz="1200" dirty="0">
                <a:solidFill>
                  <a:srgbClr val="333333"/>
                </a:solidFill>
                <a:latin typeface="Calibri"/>
              </a:rPr>
              <a:t>Preserves color: only luminance is enhanced</a:t>
            </a:r>
          </a:p>
          <a:p>
            <a:pPr lvl="1">
              <a:spcAft>
                <a:spcPts val="400"/>
              </a:spcAft>
            </a:pPr>
            <a:r>
              <a:rPr lang="en-US" altLang="zh-CN" sz="1200" dirty="0">
                <a:solidFill>
                  <a:srgbClr val="333333"/>
                </a:solidFill>
                <a:latin typeface="Calibri"/>
              </a:rPr>
              <a:t>OpenCV implementation: fast &amp; deterministic</a:t>
            </a:r>
          </a:p>
          <a:p>
            <a:pPr marL="457200" lvl="1" indent="0">
              <a:spcAft>
                <a:spcPts val="400"/>
              </a:spcAft>
              <a:buFont typeface="Arial" panose="020B0604020202020204" pitchFamily="34" charset="0"/>
              <a:buNone/>
            </a:pPr>
            <a:endParaRPr lang="el-GR" sz="1400" kern="0" dirty="0">
              <a:solidFill>
                <a:srgbClr val="3333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590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CB6F3-8E5E-7F29-1B97-9831A9957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C7ECF-7F65-A5C3-E5EB-1EF957E3A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Stand der Implementierung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0A9E4DE-D0E6-A155-03B6-3E577FE6CCB0}"/>
              </a:ext>
            </a:extLst>
          </p:cNvPr>
          <p:cNvSpPr txBox="1"/>
          <p:nvPr/>
        </p:nvSpPr>
        <p:spPr>
          <a:xfrm>
            <a:off x="274320" y="953725"/>
            <a:ext cx="2560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dirty="0">
                <a:solidFill>
                  <a:srgbClr val="666666"/>
                </a:solidFill>
                <a:latin typeface="+mn-lt"/>
              </a:rPr>
              <a:t>Clean</a:t>
            </a:r>
            <a:br>
              <a:rPr sz="2000" dirty="0">
                <a:latin typeface="+mn-lt"/>
              </a:rPr>
            </a:br>
            <a:r>
              <a:rPr sz="1050" b="0" dirty="0">
                <a:solidFill>
                  <a:srgbClr val="666666"/>
                </a:solidFill>
                <a:latin typeface="+mn-lt"/>
              </a:rPr>
              <a:t>mAP@0.5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693F998F-B40A-D55D-133B-F7B2D0575F92}"/>
              </a:ext>
            </a:extLst>
          </p:cNvPr>
          <p:cNvSpPr txBox="1"/>
          <p:nvPr/>
        </p:nvSpPr>
        <p:spPr>
          <a:xfrm>
            <a:off x="274320" y="1273765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2ECC71"/>
                </a:solidFill>
                <a:latin typeface="+mn-lt"/>
              </a:rPr>
              <a:t>0.3539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EE1C51EA-8B02-DD3D-DC0C-25A6B44E0C55}"/>
              </a:ext>
            </a:extLst>
          </p:cNvPr>
          <p:cNvSpPr txBox="1"/>
          <p:nvPr/>
        </p:nvSpPr>
        <p:spPr>
          <a:xfrm>
            <a:off x="3017520" y="953725"/>
            <a:ext cx="2560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dirty="0">
                <a:solidFill>
                  <a:srgbClr val="666666"/>
                </a:solidFill>
                <a:latin typeface="+mn-lt"/>
              </a:rPr>
              <a:t>Adverse</a:t>
            </a:r>
            <a:br>
              <a:rPr sz="1050" dirty="0">
                <a:solidFill>
                  <a:srgbClr val="666666"/>
                </a:solidFill>
                <a:latin typeface="+mn-lt"/>
              </a:rPr>
            </a:br>
            <a:r>
              <a:rPr sz="1050" dirty="0">
                <a:solidFill>
                  <a:srgbClr val="666666"/>
                </a:solidFill>
                <a:latin typeface="+mn-lt"/>
              </a:rPr>
              <a:t>mAP@0.5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3BF2347-3499-9484-9020-1D969F478E00}"/>
              </a:ext>
            </a:extLst>
          </p:cNvPr>
          <p:cNvSpPr txBox="1"/>
          <p:nvPr/>
        </p:nvSpPr>
        <p:spPr>
          <a:xfrm>
            <a:off x="3017520" y="1273765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E74C3C"/>
                </a:solidFill>
                <a:latin typeface="+mn-lt"/>
              </a:rPr>
              <a:t>0.2941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AEAE8D2-DADD-4663-65A6-9C4284799A74}"/>
              </a:ext>
            </a:extLst>
          </p:cNvPr>
          <p:cNvSpPr txBox="1"/>
          <p:nvPr/>
        </p:nvSpPr>
        <p:spPr>
          <a:xfrm>
            <a:off x="5760720" y="953725"/>
            <a:ext cx="2560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dirty="0">
                <a:solidFill>
                  <a:srgbClr val="666666"/>
                </a:solidFill>
                <a:latin typeface="+mn-lt"/>
              </a:rPr>
              <a:t>Absolute</a:t>
            </a:r>
            <a:br>
              <a:rPr sz="2000" dirty="0">
                <a:latin typeface="+mn-lt"/>
              </a:rPr>
            </a:br>
            <a:r>
              <a:rPr sz="1050" b="0" dirty="0">
                <a:solidFill>
                  <a:srgbClr val="666666"/>
                </a:solidFill>
                <a:latin typeface="+mn-lt"/>
              </a:rPr>
              <a:t>Drop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8CFD542B-1422-2B17-30E1-2BF01A648680}"/>
              </a:ext>
            </a:extLst>
          </p:cNvPr>
          <p:cNvSpPr txBox="1"/>
          <p:nvPr/>
        </p:nvSpPr>
        <p:spPr>
          <a:xfrm>
            <a:off x="5760720" y="1273765"/>
            <a:ext cx="25603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E74C3C"/>
                </a:solidFill>
                <a:latin typeface="+mn-lt"/>
              </a:rPr>
              <a:t>0.0598</a:t>
            </a:r>
            <a:r>
              <a:rPr lang="zh-CN" altLang="en-US" sz="2600" b="1" dirty="0">
                <a:solidFill>
                  <a:srgbClr val="E74C3C"/>
                </a:solidFill>
                <a:latin typeface="+mn-lt"/>
              </a:rPr>
              <a:t>↓</a:t>
            </a:r>
            <a:endParaRPr sz="2600" b="1" dirty="0">
              <a:solidFill>
                <a:srgbClr val="E74C3C"/>
              </a:solidFill>
              <a:latin typeface="+mn-lt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3AB19913-868A-AE34-DC6E-15EFF5A61B40}"/>
              </a:ext>
            </a:extLst>
          </p:cNvPr>
          <p:cNvSpPr txBox="1"/>
          <p:nvPr/>
        </p:nvSpPr>
        <p:spPr>
          <a:xfrm>
            <a:off x="8503920" y="953725"/>
            <a:ext cx="2560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dirty="0">
                <a:solidFill>
                  <a:srgbClr val="666666"/>
                </a:solidFill>
                <a:latin typeface="+mn-lt"/>
              </a:rPr>
              <a:t>Relative</a:t>
            </a:r>
            <a:br>
              <a:rPr sz="2000" dirty="0">
                <a:latin typeface="+mn-lt"/>
              </a:rPr>
            </a:br>
            <a:r>
              <a:rPr sz="1050" b="0" dirty="0">
                <a:solidFill>
                  <a:srgbClr val="666666"/>
                </a:solidFill>
                <a:latin typeface="+mn-lt"/>
              </a:rPr>
              <a:t>Drop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1F6A4BA5-DD10-1DF5-A6C8-BFD8B97AA051}"/>
              </a:ext>
            </a:extLst>
          </p:cNvPr>
          <p:cNvSpPr txBox="1"/>
          <p:nvPr/>
        </p:nvSpPr>
        <p:spPr>
          <a:xfrm>
            <a:off x="8503920" y="1273765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E74C3C"/>
                </a:solidFill>
                <a:latin typeface="+mn-lt"/>
              </a:rPr>
              <a:t>16.9%</a:t>
            </a:r>
            <a:r>
              <a:rPr lang="zh-CN" altLang="en-US" sz="2600" b="1" dirty="0">
                <a:solidFill>
                  <a:srgbClr val="E74C3C"/>
                </a:solidFill>
                <a:latin typeface="+mn-lt"/>
              </a:rPr>
              <a:t> ↓</a:t>
            </a:r>
            <a:endParaRPr sz="2600" b="1" dirty="0">
              <a:solidFill>
                <a:srgbClr val="E74C3C"/>
              </a:solidFill>
              <a:latin typeface="+mn-lt"/>
            </a:endParaRPr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81E634A5-7196-933D-DC4C-C813EBC25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957701"/>
              </p:ext>
            </p:extLst>
          </p:nvPr>
        </p:nvGraphicFramePr>
        <p:xfrm>
          <a:off x="365761" y="2029707"/>
          <a:ext cx="478513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1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Frutiger LT Com 45 Light" panose="020B0303030504020204"/>
                        </a:rPr>
                        <a:t>Class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Frutiger LT Com 45 Light" panose="020B0303030504020204"/>
                        </a:rPr>
                        <a:t>Clean AP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Frutiger LT Com 45 Light" panose="020B0303030504020204"/>
                        </a:rPr>
                        <a:t>Adverse AP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Frutiger LT Com 45 Light" panose="020B0303030504020204"/>
                        </a:rPr>
                        <a:t>Δ Drop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Frutiger LT Com 45 Light" panose="020B0303030504020204"/>
                        </a:rPr>
                        <a:t>Drop %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0.4237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0.4330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-0.0093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-2.2%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bicycle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0.2771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0.2067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+0.0704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+25.4%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0.4674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0.5069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-0.0395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-8.5%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motorcycle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0.2767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0.2405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+0.0362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+13.1%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bus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0.3583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0.3106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+0.0477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+13.3%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train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0.0000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0.0294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-0.0294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+0.0%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truck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0.3203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0.3317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-0.0114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-3.6%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mAP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0.3539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0.2941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0.0598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Frutiger LT Com 45 Light" panose="020B0303030504020204"/>
                        </a:rPr>
                        <a:t>16.9%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BE85E563-16D3-758F-FC83-B8E49A9D69FC}"/>
              </a:ext>
            </a:extLst>
          </p:cNvPr>
          <p:cNvGrpSpPr/>
          <p:nvPr/>
        </p:nvGrpSpPr>
        <p:grpSpPr>
          <a:xfrm>
            <a:off x="5285910" y="1909607"/>
            <a:ext cx="6630948" cy="3443831"/>
            <a:chOff x="5285910" y="1909607"/>
            <a:chExt cx="6630948" cy="3443831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12302CDE-8145-4D63-A09C-B974201CFEAF}"/>
                </a:ext>
              </a:extLst>
            </p:cNvPr>
            <p:cNvGrpSpPr/>
            <p:nvPr/>
          </p:nvGrpSpPr>
          <p:grpSpPr>
            <a:xfrm>
              <a:off x="6474681" y="2078850"/>
              <a:ext cx="4572000" cy="3274588"/>
              <a:chOff x="6474681" y="2078850"/>
              <a:chExt cx="4572000" cy="3274588"/>
            </a:xfrm>
          </p:grpSpPr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43C69F93-422E-1CDF-1E25-BEB49B466423}"/>
                  </a:ext>
                </a:extLst>
              </p:cNvPr>
              <p:cNvSpPr txBox="1"/>
              <p:nvPr/>
            </p:nvSpPr>
            <p:spPr>
              <a:xfrm>
                <a:off x="6474681" y="5122606"/>
                <a:ext cx="457200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b="0" dirty="0">
                    <a:latin typeface="+mn-lt"/>
                  </a:rPr>
                  <a:t>Per-class AP: Clean vs Adverse (YOLOv8m)</a:t>
                </a: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283B1E16-CB62-4FAD-14CD-D46DEC545856}"/>
                  </a:ext>
                </a:extLst>
              </p:cNvPr>
              <p:cNvSpPr/>
              <p:nvPr/>
            </p:nvSpPr>
            <p:spPr>
              <a:xfrm>
                <a:off x="7536160" y="2078850"/>
                <a:ext cx="45719" cy="90010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D3E63DC6-57F8-998E-673D-00DF754AF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5910" y="1909607"/>
              <a:ext cx="6630948" cy="32745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216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25CB6-692D-669B-1949-33CD2888F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551D59-4C85-AD19-9A6D-1CC8664F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Stand der Implementierung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82B524D2-C1C3-9767-043B-4E1118CAD834}"/>
              </a:ext>
            </a:extLst>
          </p:cNvPr>
          <p:cNvSpPr txBox="1"/>
          <p:nvPr/>
        </p:nvSpPr>
        <p:spPr>
          <a:xfrm>
            <a:off x="274320" y="953725"/>
            <a:ext cx="2560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dirty="0">
                <a:solidFill>
                  <a:srgbClr val="666666"/>
                </a:solidFill>
                <a:latin typeface="+mn-lt"/>
              </a:rPr>
              <a:t>Clean</a:t>
            </a:r>
            <a:br>
              <a:rPr sz="2000" dirty="0">
                <a:latin typeface="+mn-lt"/>
              </a:rPr>
            </a:br>
            <a:r>
              <a:rPr sz="1050" b="0" dirty="0">
                <a:solidFill>
                  <a:srgbClr val="666666"/>
                </a:solidFill>
                <a:latin typeface="+mn-lt"/>
              </a:rPr>
              <a:t>mAP@0.5</a:t>
            </a: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F41808F4-82CF-3D79-FC8A-9A2297686F72}"/>
              </a:ext>
            </a:extLst>
          </p:cNvPr>
          <p:cNvSpPr txBox="1"/>
          <p:nvPr/>
        </p:nvSpPr>
        <p:spPr>
          <a:xfrm>
            <a:off x="274320" y="1273765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2ECC71"/>
                </a:solidFill>
                <a:latin typeface="+mn-lt"/>
              </a:rPr>
              <a:t>0.3539</a:t>
            </a:r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D476CD7F-6442-F72A-9A67-919F0502B6F7}"/>
              </a:ext>
            </a:extLst>
          </p:cNvPr>
          <p:cNvSpPr txBox="1"/>
          <p:nvPr/>
        </p:nvSpPr>
        <p:spPr>
          <a:xfrm>
            <a:off x="3017520" y="953725"/>
            <a:ext cx="2560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dirty="0">
                <a:solidFill>
                  <a:srgbClr val="666666"/>
                </a:solidFill>
                <a:latin typeface="+mn-lt"/>
              </a:rPr>
              <a:t>Adverse</a:t>
            </a:r>
            <a:br>
              <a:rPr sz="1050" dirty="0">
                <a:solidFill>
                  <a:srgbClr val="666666"/>
                </a:solidFill>
                <a:latin typeface="+mn-lt"/>
              </a:rPr>
            </a:br>
            <a:r>
              <a:rPr sz="1050" dirty="0">
                <a:solidFill>
                  <a:srgbClr val="666666"/>
                </a:solidFill>
                <a:latin typeface="+mn-lt"/>
              </a:rPr>
              <a:t>mAP@0.5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F2CCDA93-3AE0-F6F6-9C8A-16E6F7DF9402}"/>
              </a:ext>
            </a:extLst>
          </p:cNvPr>
          <p:cNvSpPr txBox="1"/>
          <p:nvPr/>
        </p:nvSpPr>
        <p:spPr>
          <a:xfrm>
            <a:off x="3017520" y="1273765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CA674C"/>
                </a:solidFill>
                <a:latin typeface="+mn-lt"/>
              </a:rPr>
              <a:t>0.2941</a:t>
            </a: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D11502B2-7336-0A86-618E-349826834B20}"/>
              </a:ext>
            </a:extLst>
          </p:cNvPr>
          <p:cNvSpPr txBox="1"/>
          <p:nvPr/>
        </p:nvSpPr>
        <p:spPr>
          <a:xfrm>
            <a:off x="5760720" y="953725"/>
            <a:ext cx="2560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dirty="0">
                <a:solidFill>
                  <a:srgbClr val="666666"/>
                </a:solidFill>
                <a:latin typeface="+mn-lt"/>
              </a:rPr>
              <a:t>Absolute</a:t>
            </a:r>
            <a:br>
              <a:rPr sz="2000" dirty="0">
                <a:latin typeface="+mn-lt"/>
              </a:rPr>
            </a:br>
            <a:r>
              <a:rPr sz="1050" b="0" dirty="0">
                <a:solidFill>
                  <a:srgbClr val="666666"/>
                </a:solidFill>
                <a:latin typeface="+mn-lt"/>
              </a:rPr>
              <a:t>Drop</a:t>
            </a: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45B768C0-76CA-F9E8-573B-15A9D4728A52}"/>
              </a:ext>
            </a:extLst>
          </p:cNvPr>
          <p:cNvSpPr txBox="1"/>
          <p:nvPr/>
        </p:nvSpPr>
        <p:spPr>
          <a:xfrm>
            <a:off x="5760720" y="1273765"/>
            <a:ext cx="25603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E74C3C"/>
                </a:solidFill>
                <a:latin typeface="+mn-lt"/>
              </a:rPr>
              <a:t>0.0598</a:t>
            </a:r>
            <a:r>
              <a:rPr lang="zh-CN" altLang="en-US" sz="2600" b="1" dirty="0">
                <a:solidFill>
                  <a:srgbClr val="E74C3C"/>
                </a:solidFill>
                <a:latin typeface="+mn-lt"/>
              </a:rPr>
              <a:t>↓</a:t>
            </a:r>
            <a:endParaRPr sz="2600" b="1" dirty="0">
              <a:solidFill>
                <a:srgbClr val="E74C3C"/>
              </a:solidFill>
              <a:latin typeface="+mn-lt"/>
            </a:endParaRPr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6E37D2D8-593B-694A-D0C7-FCF05998B1D5}"/>
              </a:ext>
            </a:extLst>
          </p:cNvPr>
          <p:cNvSpPr txBox="1"/>
          <p:nvPr/>
        </p:nvSpPr>
        <p:spPr>
          <a:xfrm>
            <a:off x="8503920" y="953725"/>
            <a:ext cx="2560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dirty="0">
                <a:solidFill>
                  <a:srgbClr val="666666"/>
                </a:solidFill>
                <a:latin typeface="+mn-lt"/>
              </a:rPr>
              <a:t>Relative</a:t>
            </a:r>
            <a:br>
              <a:rPr sz="2000" dirty="0">
                <a:latin typeface="+mn-lt"/>
              </a:rPr>
            </a:br>
            <a:r>
              <a:rPr sz="1050" b="0" dirty="0">
                <a:solidFill>
                  <a:srgbClr val="666666"/>
                </a:solidFill>
                <a:latin typeface="+mn-lt"/>
              </a:rPr>
              <a:t>Drop</a:t>
            </a: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4523BEA7-2730-AFB1-E9AF-531861B209B8}"/>
              </a:ext>
            </a:extLst>
          </p:cNvPr>
          <p:cNvSpPr txBox="1"/>
          <p:nvPr/>
        </p:nvSpPr>
        <p:spPr>
          <a:xfrm>
            <a:off x="8503920" y="1273765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E74C3C"/>
                </a:solidFill>
                <a:latin typeface="+mn-lt"/>
              </a:rPr>
              <a:t>16.9%</a:t>
            </a:r>
            <a:r>
              <a:rPr lang="zh-CN" altLang="en-US" sz="2600" b="1" dirty="0">
                <a:solidFill>
                  <a:srgbClr val="E74C3C"/>
                </a:solidFill>
                <a:latin typeface="+mn-lt"/>
              </a:rPr>
              <a:t> ↓</a:t>
            </a:r>
            <a:endParaRPr sz="2600" b="1" dirty="0">
              <a:solidFill>
                <a:srgbClr val="E74C3C"/>
              </a:solidFill>
              <a:latin typeface="+mn-lt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6AFEFE3-3DF3-6B95-DBF2-1ACAEB888243}"/>
              </a:ext>
            </a:extLst>
          </p:cNvPr>
          <p:cNvGrpSpPr/>
          <p:nvPr/>
        </p:nvGrpSpPr>
        <p:grpSpPr>
          <a:xfrm>
            <a:off x="695400" y="2078850"/>
            <a:ext cx="11341260" cy="3759173"/>
            <a:chOff x="695400" y="2078850"/>
            <a:chExt cx="11341260" cy="3759173"/>
          </a:xfrm>
        </p:grpSpPr>
        <p:sp>
          <p:nvSpPr>
            <p:cNvPr id="17" name="TextBox 14">
              <a:extLst>
                <a:ext uri="{FF2B5EF4-FFF2-40B4-BE49-F238E27FC236}">
                  <a16:creationId xmlns:a16="http://schemas.microsoft.com/office/drawing/2014/main" id="{5EE85586-194D-F7FD-7087-BA6DAF3DD896}"/>
                </a:ext>
              </a:extLst>
            </p:cNvPr>
            <p:cNvSpPr txBox="1"/>
            <p:nvPr/>
          </p:nvSpPr>
          <p:spPr>
            <a:xfrm>
              <a:off x="695400" y="5499469"/>
              <a:ext cx="113412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0" dirty="0">
                  <a:latin typeface="+mn-lt"/>
                </a:rPr>
                <a:t>Class-specific degradation</a:t>
              </a:r>
              <a:r>
                <a:rPr lang="en-US" b="0" dirty="0">
                  <a:latin typeface="+mn-lt"/>
                </a:rPr>
                <a:t>:</a:t>
              </a:r>
              <a:r>
                <a:rPr b="0" dirty="0">
                  <a:latin typeface="+mn-lt"/>
                </a:rPr>
                <a:t> </a:t>
              </a:r>
              <a:r>
                <a:rPr b="1" dirty="0">
                  <a:latin typeface="+mn-lt"/>
                </a:rPr>
                <a:t>large</a:t>
              </a:r>
              <a:r>
                <a:rPr b="0" dirty="0">
                  <a:latin typeface="+mn-lt"/>
                </a:rPr>
                <a:t> objects (car, person) robust; </a:t>
              </a:r>
              <a:r>
                <a:rPr b="1" dirty="0">
                  <a:latin typeface="+mn-lt"/>
                </a:rPr>
                <a:t>small/detailed </a:t>
              </a:r>
              <a:r>
                <a:rPr b="0" dirty="0">
                  <a:latin typeface="+mn-lt"/>
                </a:rPr>
                <a:t>objects (bicycle -25%, motorcycle -13%) suffer most.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94361F99-0B1C-BC1E-F6CE-1352181B2AA7}"/>
                </a:ext>
              </a:extLst>
            </p:cNvPr>
            <p:cNvSpPr/>
            <p:nvPr/>
          </p:nvSpPr>
          <p:spPr>
            <a:xfrm>
              <a:off x="4475820" y="2078850"/>
              <a:ext cx="90010" cy="9001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71D0854C-5362-D6F3-FB9B-48FD21EF6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52" y="2112499"/>
            <a:ext cx="10911535" cy="338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40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70173-D8DE-7244-0DFD-3E65AAF71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88883F-962E-97DE-E097-73C875A6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Stand der Implementierung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66A5CB1-C9BE-3A1A-B2B6-111BB2446D70}"/>
              </a:ext>
            </a:extLst>
          </p:cNvPr>
          <p:cNvSpPr txBox="1"/>
          <p:nvPr/>
        </p:nvSpPr>
        <p:spPr>
          <a:xfrm>
            <a:off x="548640" y="863715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666666"/>
                </a:solidFill>
                <a:latin typeface="Frutiger LT Com 45 Light" panose="020B0303030504020204"/>
              </a:rPr>
              <a:t>Adverse Raw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180D8A2-6B6C-DF93-3A26-036A8AAC9306}"/>
              </a:ext>
            </a:extLst>
          </p:cNvPr>
          <p:cNvSpPr txBox="1"/>
          <p:nvPr/>
        </p:nvSpPr>
        <p:spPr>
          <a:xfrm>
            <a:off x="548640" y="990905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E74C3C"/>
                </a:solidFill>
                <a:latin typeface="Frutiger LT Com 45 Light" panose="020B0303030504020204"/>
              </a:rPr>
              <a:t>0.2941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AA55E6B-522A-1271-A0D9-C030C664AFFB}"/>
              </a:ext>
            </a:extLst>
          </p:cNvPr>
          <p:cNvSpPr txBox="1"/>
          <p:nvPr/>
        </p:nvSpPr>
        <p:spPr>
          <a:xfrm>
            <a:off x="4206240" y="863715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Frutiger LT Com 45 Light" panose="020B0303030504020204"/>
              </a:rPr>
              <a:t>+ MSRCR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D2C788B-A9DB-AFEE-0933-179A31486A1E}"/>
              </a:ext>
            </a:extLst>
          </p:cNvPr>
          <p:cNvSpPr txBox="1"/>
          <p:nvPr/>
        </p:nvSpPr>
        <p:spPr>
          <a:xfrm>
            <a:off x="4206240" y="990905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3498DB"/>
                </a:solidFill>
                <a:latin typeface="+mn-lt"/>
              </a:rPr>
              <a:t>0.2824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DC6DFBE-E2E9-64F4-014A-BF13CC4D6663}"/>
              </a:ext>
            </a:extLst>
          </p:cNvPr>
          <p:cNvSpPr txBox="1"/>
          <p:nvPr/>
        </p:nvSpPr>
        <p:spPr>
          <a:xfrm>
            <a:off x="7863840" y="863715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Frutiger LT Com 45 Light" panose="020B0303030504020204"/>
              </a:rPr>
              <a:t>+ CLAHE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42447A0-FAB8-A9BB-86EB-5BC721CD3FD7}"/>
              </a:ext>
            </a:extLst>
          </p:cNvPr>
          <p:cNvSpPr txBox="1"/>
          <p:nvPr/>
        </p:nvSpPr>
        <p:spPr>
          <a:xfrm>
            <a:off x="7863840" y="990905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39C12"/>
                </a:solidFill>
                <a:latin typeface="+mn-lt"/>
              </a:rPr>
              <a:t>0.3006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515E883-BD92-9BE8-6A73-305087BD25B6}"/>
              </a:ext>
            </a:extLst>
          </p:cNvPr>
          <p:cNvSpPr txBox="1"/>
          <p:nvPr/>
        </p:nvSpPr>
        <p:spPr>
          <a:xfrm>
            <a:off x="457200" y="1485960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latin typeface="Frutiger LT Com 45 Light" panose="020B0303030504020204"/>
              </a:rPr>
              <a:t>MSRCR </a:t>
            </a:r>
            <a:r>
              <a:rPr sz="1200" dirty="0">
                <a:latin typeface="Frutiger LT Com 45 Light" panose="020B0303030504020204"/>
              </a:rPr>
              <a:t>recovery: </a:t>
            </a:r>
            <a:r>
              <a:rPr sz="1200" b="1" dirty="0">
                <a:solidFill>
                  <a:srgbClr val="E74C3C"/>
                </a:solidFill>
                <a:latin typeface="Frutiger LT Com 45 Light" panose="020B0303030504020204"/>
              </a:rPr>
              <a:t>-19.6% </a:t>
            </a:r>
            <a:r>
              <a:rPr sz="1200" b="0" dirty="0">
                <a:latin typeface="Frutiger LT Com 45 Light" panose="020B0303030504020204"/>
              </a:rPr>
              <a:t>of gap (slight decrease)  |  CLAHE recovery: </a:t>
            </a:r>
            <a:r>
              <a:rPr sz="1200" b="1" dirty="0">
                <a:solidFill>
                  <a:srgbClr val="2ECC71"/>
                </a:solidFill>
                <a:latin typeface="Frutiger LT Com 45 Light" panose="020B0303030504020204"/>
              </a:rPr>
              <a:t>+10.9% </a:t>
            </a:r>
            <a:r>
              <a:rPr sz="1200" b="0" dirty="0">
                <a:latin typeface="Frutiger LT Com 45 Light" panose="020B0303030504020204"/>
              </a:rPr>
              <a:t>of gap (modest improvement)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884E768-9050-DCAC-7A07-390C53D70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631688"/>
              </p:ext>
            </p:extLst>
          </p:nvPr>
        </p:nvGraphicFramePr>
        <p:xfrm>
          <a:off x="335360" y="2084777"/>
          <a:ext cx="4377486" cy="3369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1181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+mn-lt"/>
                        </a:rPr>
                        <a:t>Class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+mn-lt"/>
                        </a:rPr>
                        <a:t>Clean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+mn-lt"/>
                        </a:rPr>
                        <a:t>Adv Raw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+mn-lt"/>
                        </a:rPr>
                        <a:t>+MSRCR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+mn-lt"/>
                        </a:rPr>
                        <a:t>+CLAHE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181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0.4237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0.4330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0.4435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0.4586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181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bicycle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0.2771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0.2067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0.2163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0.2065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181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0.4674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0.5069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0.4759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0.5162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181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motorcycle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0.2767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0.2405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0.2405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0.2695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181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bus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0.3583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0.3106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0.2808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0.3117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181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train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0.0000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0.0294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0.0150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0.0115</a:t>
                      </a:r>
                    </a:p>
                  </a:txBody>
                  <a:tcPr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181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truck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0.3203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0.3317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0.3046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333333"/>
                          </a:solidFill>
                          <a:latin typeface="+mn-lt"/>
                        </a:rPr>
                        <a:t>0.3299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31DAC057-7DEA-BF97-C566-466C5BC7C123}"/>
              </a:ext>
            </a:extLst>
          </p:cNvPr>
          <p:cNvGrpSpPr/>
          <p:nvPr/>
        </p:nvGrpSpPr>
        <p:grpSpPr>
          <a:xfrm>
            <a:off x="4745850" y="2123855"/>
            <a:ext cx="7350163" cy="3279139"/>
            <a:chOff x="4745850" y="2123855"/>
            <a:chExt cx="7350163" cy="3279139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71569385-F927-517E-B62C-A3200E565D96}"/>
                </a:ext>
              </a:extLst>
            </p:cNvPr>
            <p:cNvGrpSpPr/>
            <p:nvPr/>
          </p:nvGrpSpPr>
          <p:grpSpPr>
            <a:xfrm>
              <a:off x="6571710" y="2303876"/>
              <a:ext cx="4030125" cy="3099118"/>
              <a:chOff x="6571710" y="2084777"/>
              <a:chExt cx="4114800" cy="3158055"/>
            </a:xfrm>
          </p:grpSpPr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F1603945-7B1D-7236-E5FD-89FB05BC77FC}"/>
                  </a:ext>
                </a:extLst>
              </p:cNvPr>
              <p:cNvSpPr txBox="1"/>
              <p:nvPr/>
            </p:nvSpPr>
            <p:spPr>
              <a:xfrm>
                <a:off x="6571710" y="5012000"/>
                <a:ext cx="411480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b="0" dirty="0">
                    <a:latin typeface="+mn-lt"/>
                  </a:rPr>
                  <a:t>4-way per-class AP comparison</a:t>
                </a: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16DBBF5-FCBC-6A37-6A0C-183AA19D27A8}"/>
                  </a:ext>
                </a:extLst>
              </p:cNvPr>
              <p:cNvSpPr/>
              <p:nvPr/>
            </p:nvSpPr>
            <p:spPr>
              <a:xfrm>
                <a:off x="7805476" y="2084777"/>
                <a:ext cx="45719" cy="90010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9E99F59-8A40-A2F5-1577-34136C3FE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5850" y="2123855"/>
              <a:ext cx="7350163" cy="31072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5296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F9F6C-1202-83F0-1404-AAB4068CF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BCB9E2-D9BF-CD47-4473-AA598CD0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Stand der Implementierung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99656A-E506-5060-7D64-5870FF675D2A}"/>
              </a:ext>
            </a:extLst>
          </p:cNvPr>
          <p:cNvSpPr/>
          <p:nvPr/>
        </p:nvSpPr>
        <p:spPr>
          <a:xfrm>
            <a:off x="5060171" y="2078850"/>
            <a:ext cx="45719" cy="900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B0208694-4B07-E9DA-4801-EB1515D487FA}"/>
              </a:ext>
            </a:extLst>
          </p:cNvPr>
          <p:cNvSpPr txBox="1"/>
          <p:nvPr/>
        </p:nvSpPr>
        <p:spPr>
          <a:xfrm>
            <a:off x="548640" y="863715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666666"/>
                </a:solidFill>
                <a:latin typeface="Frutiger LT Com 45 Light" panose="020B0303030504020204"/>
              </a:rPr>
              <a:t>Adverse Raw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D6D14730-A8EA-0403-E991-83D8B8B80E0D}"/>
              </a:ext>
            </a:extLst>
          </p:cNvPr>
          <p:cNvSpPr txBox="1"/>
          <p:nvPr/>
        </p:nvSpPr>
        <p:spPr>
          <a:xfrm>
            <a:off x="548640" y="990905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E74C3C"/>
                </a:solidFill>
                <a:latin typeface="Frutiger LT Com 45 Light" panose="020B0303030504020204"/>
              </a:rPr>
              <a:t>0.2941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18189B81-6CD9-1CE4-825A-50F9137946C2}"/>
              </a:ext>
            </a:extLst>
          </p:cNvPr>
          <p:cNvSpPr txBox="1"/>
          <p:nvPr/>
        </p:nvSpPr>
        <p:spPr>
          <a:xfrm>
            <a:off x="4206240" y="863715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Frutiger LT Com 45 Light" panose="020B0303030504020204"/>
              </a:rPr>
              <a:t>+ MSRCR</a:t>
            </a: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339F9BA8-4A23-99BC-FED3-1E4AD8D36969}"/>
              </a:ext>
            </a:extLst>
          </p:cNvPr>
          <p:cNvSpPr txBox="1"/>
          <p:nvPr/>
        </p:nvSpPr>
        <p:spPr>
          <a:xfrm>
            <a:off x="4206240" y="990905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3498DB"/>
                </a:solidFill>
                <a:latin typeface="+mn-lt"/>
              </a:rPr>
              <a:t>0.2824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6D5A5230-3CAE-13F0-B523-1644CD6A0A25}"/>
              </a:ext>
            </a:extLst>
          </p:cNvPr>
          <p:cNvSpPr txBox="1"/>
          <p:nvPr/>
        </p:nvSpPr>
        <p:spPr>
          <a:xfrm>
            <a:off x="7863840" y="863715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Frutiger LT Com 45 Light" panose="020B0303030504020204"/>
              </a:rPr>
              <a:t>+ CLAHE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D3406F69-BBDC-DDEC-BEB0-C59848793B42}"/>
              </a:ext>
            </a:extLst>
          </p:cNvPr>
          <p:cNvSpPr txBox="1"/>
          <p:nvPr/>
        </p:nvSpPr>
        <p:spPr>
          <a:xfrm>
            <a:off x="7863840" y="990905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39C12"/>
                </a:solidFill>
                <a:latin typeface="+mn-lt"/>
              </a:rPr>
              <a:t>0.3006</a:t>
            </a: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3A94F1DE-7C97-33E9-633E-29C9D5A4B05D}"/>
              </a:ext>
            </a:extLst>
          </p:cNvPr>
          <p:cNvSpPr txBox="1"/>
          <p:nvPr/>
        </p:nvSpPr>
        <p:spPr>
          <a:xfrm>
            <a:off x="457200" y="148596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latin typeface="Frutiger LT Com 45 Light" panose="020B0303030504020204"/>
              </a:rPr>
              <a:t>MSRCR </a:t>
            </a:r>
            <a:r>
              <a:rPr sz="1200" dirty="0">
                <a:latin typeface="Frutiger LT Com 45 Light" panose="020B0303030504020204"/>
              </a:rPr>
              <a:t>recovery: </a:t>
            </a:r>
            <a:r>
              <a:rPr sz="1400" b="1" dirty="0">
                <a:solidFill>
                  <a:srgbClr val="3498DB"/>
                </a:solidFill>
                <a:latin typeface="Frutiger LT Com 45 Light" panose="020B0303030504020204"/>
              </a:rPr>
              <a:t>-19.6% </a:t>
            </a:r>
            <a:r>
              <a:rPr sz="1200" b="0" dirty="0">
                <a:latin typeface="Frutiger LT Com 45 Light" panose="020B0303030504020204"/>
              </a:rPr>
              <a:t>of gap (slight decrease)  |  CLAHE recovery: </a:t>
            </a:r>
            <a:r>
              <a:rPr sz="1400" b="1" dirty="0">
                <a:solidFill>
                  <a:srgbClr val="F39C12"/>
                </a:solidFill>
                <a:latin typeface="Frutiger LT Com 45 Light" panose="020B0303030504020204"/>
              </a:rPr>
              <a:t>+10.9% </a:t>
            </a:r>
            <a:r>
              <a:rPr sz="1200" b="0" dirty="0">
                <a:latin typeface="Frutiger LT Com 45 Light" panose="020B0303030504020204"/>
              </a:rPr>
              <a:t>of gap (modest improvement)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595C8945-C6AD-A2F2-F6F7-5F7EB239A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22" y="2049386"/>
            <a:ext cx="11502508" cy="380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37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5A7F0-25C3-1306-9F4E-AB7A9EC02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F6F80A-67B1-C285-A233-67721E85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Stand der Implementierung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3ADDA83-4DAB-D70C-2BB5-7AB4A4D48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592063"/>
              </p:ext>
            </p:extLst>
          </p:nvPr>
        </p:nvGraphicFramePr>
        <p:xfrm>
          <a:off x="274320" y="1223755"/>
          <a:ext cx="5742638" cy="198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4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055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+mn-lt"/>
                        </a:rPr>
                        <a:t>Weather</a:t>
                      </a:r>
                    </a:p>
                  </a:txBody>
                  <a:tcPr marL="99011" marR="99011" marT="49505" marB="49505"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+mn-lt"/>
                        </a:rPr>
                        <a:t>Images</a:t>
                      </a:r>
                    </a:p>
                  </a:txBody>
                  <a:tcPr marL="99011" marR="99011" marT="49505" marB="49505"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+mn-lt"/>
                        </a:rPr>
                        <a:t>mAP@0.5</a:t>
                      </a:r>
                    </a:p>
                  </a:txBody>
                  <a:tcPr marL="99011" marR="99011" marT="49505" marB="49505"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+mn-lt"/>
                        </a:rPr>
                        <a:t>Note</a:t>
                      </a:r>
                    </a:p>
                  </a:txBody>
                  <a:tcPr marL="99011" marR="99011" marT="49505" marB="49505" anchor="ctr"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05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snowy</a:t>
                      </a:r>
                    </a:p>
                  </a:txBody>
                  <a:tcPr marL="99011" marR="99011" marT="49505" marB="495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992</a:t>
                      </a:r>
                    </a:p>
                  </a:txBody>
                  <a:tcPr marL="99011" marR="99011" marT="49505" marB="495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0.315</a:t>
                      </a:r>
                    </a:p>
                  </a:txBody>
                  <a:tcPr marL="99011" marR="99011" marT="49505" marB="495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Largest adverse subset</a:t>
                      </a:r>
                    </a:p>
                  </a:txBody>
                  <a:tcPr marL="99011" marR="99011" marT="49505" marB="4950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05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rainy</a:t>
                      </a:r>
                    </a:p>
                  </a:txBody>
                  <a:tcPr marL="99011" marR="99011" marT="49505" marB="49505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333333"/>
                          </a:solidFill>
                          <a:latin typeface="+mn-lt"/>
                        </a:rPr>
                        <a:t>991</a:t>
                      </a:r>
                    </a:p>
                  </a:txBody>
                  <a:tcPr marL="99011" marR="99011" marT="49505" marB="49505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0.344</a:t>
                      </a:r>
                    </a:p>
                  </a:txBody>
                  <a:tcPr marL="99011" marR="99011" marT="49505" marB="49505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Less degradation than snow</a:t>
                      </a:r>
                    </a:p>
                  </a:txBody>
                  <a:tcPr marL="99011" marR="99011" marT="49505" marB="49505"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05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foggy</a:t>
                      </a:r>
                    </a:p>
                  </a:txBody>
                  <a:tcPr marL="99011" marR="99011" marT="49505" marB="495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17</a:t>
                      </a:r>
                    </a:p>
                  </a:txBody>
                  <a:tcPr marL="99011" marR="99011" marT="49505" marB="495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+mn-lt"/>
                        </a:rPr>
                        <a:t>0.371*</a:t>
                      </a:r>
                    </a:p>
                  </a:txBody>
                  <a:tcPr marL="99011" marR="99011" marT="49505" marB="495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333333"/>
                          </a:solidFill>
                          <a:latin typeface="+mn-lt"/>
                        </a:rPr>
                        <a:t>*Only 17 images — not reliable</a:t>
                      </a:r>
                    </a:p>
                  </a:txBody>
                  <a:tcPr marL="99011" marR="99011" marT="49505" marB="4950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4">
            <a:extLst>
              <a:ext uri="{FF2B5EF4-FFF2-40B4-BE49-F238E27FC236}">
                <a16:creationId xmlns:a16="http://schemas.microsoft.com/office/drawing/2014/main" id="{F0EFBE6D-13F4-3691-C76E-433A53ABC4C7}"/>
              </a:ext>
            </a:extLst>
          </p:cNvPr>
          <p:cNvSpPr txBox="1"/>
          <p:nvPr/>
        </p:nvSpPr>
        <p:spPr>
          <a:xfrm>
            <a:off x="274320" y="3620551"/>
            <a:ext cx="53035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dirty="0">
                <a:solidFill>
                  <a:srgbClr val="333333"/>
                </a:solidFill>
                <a:latin typeface="+mn-lt"/>
              </a:rPr>
              <a:t>Snowy: the extreme bottleneck, the fine texture and high reflective profile of snow blocks object boundaries severely.</a:t>
            </a:r>
          </a:p>
          <a:p>
            <a:pPr algn="l"/>
            <a:endParaRPr lang="en-US" sz="1400" b="0" dirty="0">
              <a:solidFill>
                <a:srgbClr val="333333"/>
              </a:solidFill>
              <a:latin typeface="+mn-lt"/>
            </a:endParaRPr>
          </a:p>
          <a:p>
            <a:pPr algn="l"/>
            <a:r>
              <a:rPr lang="en-US" sz="1400" b="0" dirty="0">
                <a:solidFill>
                  <a:srgbClr val="333333"/>
                </a:solidFill>
                <a:latin typeface="+mn-lt"/>
              </a:rPr>
              <a:t>Rainy: moderately handled, YOLOv8m CNN maps have learned enough rainy texture filters to bypass surface reflections.</a:t>
            </a:r>
          </a:p>
          <a:p>
            <a:pPr algn="l"/>
            <a:endParaRPr lang="en-US" sz="1400" b="0" dirty="0">
              <a:solidFill>
                <a:srgbClr val="333333"/>
              </a:solidFill>
              <a:latin typeface="+mn-lt"/>
            </a:endParaRPr>
          </a:p>
          <a:p>
            <a:pPr algn="l"/>
            <a:r>
              <a:rPr lang="en-US" sz="1400" b="0" dirty="0">
                <a:solidFill>
                  <a:srgbClr val="333333"/>
                </a:solidFill>
                <a:latin typeface="+mn-lt"/>
              </a:rPr>
              <a:t>Foggy: split warning, only 17 images are present in the foggy validation split. Results are highly anecdotal.</a:t>
            </a:r>
            <a:endParaRPr sz="1400" b="0" dirty="0">
              <a:solidFill>
                <a:srgbClr val="333333"/>
              </a:solidFill>
              <a:latin typeface="+mn-lt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55CAF26-7FE7-EF45-9669-18FCEE5CFF81}"/>
              </a:ext>
            </a:extLst>
          </p:cNvPr>
          <p:cNvSpPr txBox="1"/>
          <p:nvPr/>
        </p:nvSpPr>
        <p:spPr>
          <a:xfrm>
            <a:off x="6297712" y="4284095"/>
            <a:ext cx="571563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+mn-lt"/>
              </a:rPr>
              <a:t>CLAHE is most effective in snowy conditions</a:t>
            </a:r>
            <a:r>
              <a:rPr lang="en-US" sz="1400" b="0" dirty="0">
                <a:latin typeface="+mn-lt"/>
              </a:rPr>
              <a:t>: </a:t>
            </a:r>
            <a:r>
              <a:rPr sz="1400" b="0" dirty="0">
                <a:latin typeface="+mn-lt"/>
              </a:rPr>
              <a:t>improving local contrast helps the detector distinguish objects from snow-covered backgrounds.</a:t>
            </a:r>
            <a:endParaRPr lang="en-US" sz="1400" b="0" dirty="0">
              <a:latin typeface="+mn-lt"/>
            </a:endParaRPr>
          </a:p>
          <a:p>
            <a:pPr algn="l"/>
            <a:r>
              <a:rPr sz="1400" b="0" dirty="0">
                <a:latin typeface="+mn-lt"/>
              </a:rPr>
              <a:t> </a:t>
            </a:r>
            <a:endParaRPr lang="en-US" sz="1400" b="0" dirty="0">
              <a:latin typeface="+mn-lt"/>
            </a:endParaRPr>
          </a:p>
          <a:p>
            <a:pPr algn="l"/>
            <a:r>
              <a:rPr sz="1400" b="0" dirty="0">
                <a:latin typeface="+mn-lt"/>
              </a:rPr>
              <a:t>MSRCR occasionally helps in rainy scenes but over-enhances in foggy/snowy conditions.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DE83F17-5768-C254-C380-ED91D54E4055}"/>
              </a:ext>
            </a:extLst>
          </p:cNvPr>
          <p:cNvGrpSpPr/>
          <p:nvPr/>
        </p:nvGrpSpPr>
        <p:grpSpPr>
          <a:xfrm>
            <a:off x="6004866" y="923954"/>
            <a:ext cx="6150694" cy="3090111"/>
            <a:chOff x="6004866" y="923954"/>
            <a:chExt cx="5792374" cy="2910091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864DEA8-A1CD-0405-1A3A-B1715C02B24E}"/>
                </a:ext>
              </a:extLst>
            </p:cNvPr>
            <p:cNvSpPr txBox="1"/>
            <p:nvPr/>
          </p:nvSpPr>
          <p:spPr>
            <a:xfrm>
              <a:off x="6652321" y="3612281"/>
              <a:ext cx="5144919" cy="2217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dirty="0">
                  <a:latin typeface="Calibri"/>
                </a:rPr>
                <a:t>Per-class AP gain from preprocessing over raw adverse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FF637372-0E6D-0A5B-8A8E-967E3996F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4866" y="923954"/>
              <a:ext cx="5528316" cy="27300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1769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Geplante Experimente: Phase 3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0DC2CAC-4FA7-77E3-0657-6BE690CEA7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35360" y="1001125"/>
            <a:ext cx="10975015" cy="535320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2000" b="1" dirty="0">
                <a:solidFill>
                  <a:srgbClr val="333333"/>
                </a:solidFill>
                <a:latin typeface="+mn-lt"/>
              </a:rPr>
              <a:t>RT-DETR: Cross-Architecture Comparison</a:t>
            </a:r>
            <a:endParaRPr lang="en-US" sz="2000" b="1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400"/>
              </a:spcAft>
            </a:pPr>
            <a:r>
              <a:rPr sz="1400" dirty="0">
                <a:solidFill>
                  <a:srgbClr val="333333"/>
                </a:solidFill>
                <a:latin typeface="+mn-lt"/>
              </a:rPr>
              <a:t>Real-Time Detection Transformer — </a:t>
            </a:r>
            <a:r>
              <a:rPr sz="1400" dirty="0" err="1">
                <a:solidFill>
                  <a:srgbClr val="333333"/>
                </a:solidFill>
                <a:latin typeface="+mn-lt"/>
              </a:rPr>
              <a:t>ViT</a:t>
            </a:r>
            <a:r>
              <a:rPr sz="1400" dirty="0">
                <a:solidFill>
                  <a:srgbClr val="333333"/>
                </a:solidFill>
                <a:latin typeface="+mn-lt"/>
              </a:rPr>
              <a:t> backbone vs YOLO's CNN</a:t>
            </a:r>
            <a:endParaRPr lang="en-US" sz="1400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400"/>
              </a:spcAft>
            </a:pPr>
            <a:r>
              <a:rPr sz="1400" dirty="0">
                <a:solidFill>
                  <a:srgbClr val="333333"/>
                </a:solidFill>
                <a:latin typeface="+mn-lt"/>
              </a:rPr>
              <a:t>Hypothesis: global self-attention may be more robust to localized weather artifacts</a:t>
            </a:r>
            <a:endParaRPr lang="en-US" sz="1400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400"/>
              </a:spcAft>
            </a:pPr>
            <a:r>
              <a:rPr sz="1400" dirty="0">
                <a:solidFill>
                  <a:srgbClr val="333333"/>
                </a:solidFill>
                <a:latin typeface="+mn-lt"/>
              </a:rPr>
              <a:t>Same BDD100K split, identical evaluation protocol (mAP@0.5 per-class)</a:t>
            </a:r>
            <a:endParaRPr lang="en-US" sz="1400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400"/>
              </a:spcAft>
            </a:pPr>
            <a:r>
              <a:rPr sz="1400" dirty="0">
                <a:solidFill>
                  <a:srgbClr val="333333"/>
                </a:solidFill>
                <a:latin typeface="+mn-lt"/>
              </a:rPr>
              <a:t>Compare absolute performance AND relative degradation ratios</a:t>
            </a:r>
          </a:p>
          <a:p>
            <a:pPr>
              <a:spcAft>
                <a:spcPts val="1200"/>
              </a:spcAft>
            </a:pPr>
            <a:endParaRPr sz="1400" dirty="0">
              <a:solidFill>
                <a:srgbClr val="333333"/>
              </a:solidFill>
              <a:latin typeface="+mn-lt"/>
            </a:endParaRPr>
          </a:p>
          <a:p>
            <a:pPr>
              <a:spcAft>
                <a:spcPts val="400"/>
              </a:spcAft>
            </a:pPr>
            <a:r>
              <a:rPr sz="2000" b="1" dirty="0">
                <a:solidFill>
                  <a:srgbClr val="333333"/>
                </a:solidFill>
                <a:latin typeface="+mn-lt"/>
              </a:rPr>
              <a:t>Grad-CAM: Explainability Analysis</a:t>
            </a:r>
            <a:endParaRPr lang="en-US" sz="2000" b="1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400"/>
              </a:spcAft>
            </a:pPr>
            <a:r>
              <a:rPr sz="1400" dirty="0">
                <a:solidFill>
                  <a:srgbClr val="333333"/>
                </a:solidFill>
                <a:latin typeface="+mn-lt"/>
              </a:rPr>
              <a:t>Visualize which image regions drive detection in clean vs adverse</a:t>
            </a:r>
            <a:endParaRPr lang="en-US" sz="1400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400"/>
              </a:spcAft>
            </a:pPr>
            <a:r>
              <a:rPr sz="1400" dirty="0">
                <a:solidFill>
                  <a:srgbClr val="333333"/>
                </a:solidFill>
                <a:latin typeface="+mn-lt"/>
              </a:rPr>
              <a:t>Compare activation maps: YOLOv8m vs RT-DETR vs preprocessed variants</a:t>
            </a:r>
            <a:endParaRPr lang="en-US" sz="1400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400"/>
              </a:spcAft>
            </a:pPr>
            <a:r>
              <a:rPr sz="1400" dirty="0">
                <a:solidFill>
                  <a:srgbClr val="333333"/>
                </a:solidFill>
                <a:latin typeface="+mn-lt"/>
              </a:rPr>
              <a:t>Goal: understand </a:t>
            </a:r>
            <a:r>
              <a:rPr lang="en-US" sz="1400" dirty="0">
                <a:solidFill>
                  <a:srgbClr val="333333"/>
                </a:solidFill>
                <a:latin typeface="+mn-lt"/>
              </a:rPr>
              <a:t>why</a:t>
            </a:r>
            <a:r>
              <a:rPr sz="1400" dirty="0">
                <a:solidFill>
                  <a:srgbClr val="333333"/>
                </a:solidFill>
                <a:latin typeface="+mn-lt"/>
              </a:rPr>
              <a:t> detectors fail in adverse weather at the feature level</a:t>
            </a:r>
            <a:endParaRPr lang="en-US" sz="1400" dirty="0">
              <a:solidFill>
                <a:srgbClr val="333333"/>
              </a:solidFill>
              <a:latin typeface="+mn-lt"/>
            </a:endParaRPr>
          </a:p>
          <a:p>
            <a:pPr lvl="1">
              <a:spcAft>
                <a:spcPts val="400"/>
              </a:spcAft>
            </a:pPr>
            <a:r>
              <a:rPr sz="1400" dirty="0">
                <a:solidFill>
                  <a:srgbClr val="333333"/>
                </a:solidFill>
                <a:latin typeface="+mn-lt"/>
              </a:rPr>
              <a:t>Potential to guide architectural improvements or preprocessing strategies</a:t>
            </a:r>
          </a:p>
          <a:p>
            <a:pPr marL="0" indent="0">
              <a:spcAft>
                <a:spcPts val="1200"/>
              </a:spcAft>
              <a:buNone/>
            </a:pPr>
            <a:endParaRPr sz="1400" dirty="0">
              <a:solidFill>
                <a:srgbClr val="3333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1188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Fragen &amp; Diskussion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23DDE2-71C8-F2A7-40BD-18E33557EDCD}"/>
              </a:ext>
            </a:extLst>
          </p:cNvPr>
          <p:cNvSpPr txBox="1"/>
          <p:nvPr/>
        </p:nvSpPr>
        <p:spPr>
          <a:xfrm>
            <a:off x="3039975" y="2670497"/>
            <a:ext cx="61002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0" i="0" dirty="0">
                <a:effectLst/>
                <a:latin typeface="+mn-lt"/>
              </a:rPr>
              <a:t>Thank you for your attention!</a:t>
            </a:r>
            <a:endParaRPr lang="de-DE" sz="4000" dirty="0">
              <a:latin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CCC785-EC84-7A57-556E-81906BE22E1E}"/>
              </a:ext>
            </a:extLst>
          </p:cNvPr>
          <p:cNvSpPr txBox="1"/>
          <p:nvPr/>
        </p:nvSpPr>
        <p:spPr>
          <a:xfrm>
            <a:off x="1792114" y="5082970"/>
            <a:ext cx="85959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2000" dirty="0">
                <a:solidFill>
                  <a:srgbClr val="4D4D4D"/>
                </a:solidFill>
                <a:latin typeface="Frutiger LT Com 55 Roman" panose="020B0503030504020204" pitchFamily="34" charset="0"/>
                <a:ea typeface="+mj-ea"/>
                <a:cs typeface="+mj-cs"/>
              </a:rPr>
              <a:t>Projekt 10: </a:t>
            </a:r>
            <a:r>
              <a:rPr lang="en-US" altLang="zh-CN" sz="2000" dirty="0">
                <a:solidFill>
                  <a:srgbClr val="4D4D4D"/>
                </a:solidFill>
                <a:latin typeface="Frutiger LT Com 55 Roman" panose="020B0503030504020204" pitchFamily="34" charset="0"/>
                <a:ea typeface="+mj-ea"/>
                <a:cs typeface="+mj-cs"/>
              </a:rPr>
              <a:t>Enhance Robustness in Adverse Weather Conditions</a:t>
            </a:r>
            <a:endParaRPr lang="de-DE" sz="2000" dirty="0">
              <a:solidFill>
                <a:srgbClr val="4D4D4D"/>
              </a:solidFill>
              <a:latin typeface="Frutiger LT Com 55 Roman" panose="020B0503030504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11618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c5e40d7-b542-49fc-9dfb-d66a29c96b40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Frutiger 55 Roman"/>
        <a:ea typeface=""/>
        <a:cs typeface=""/>
      </a:majorFont>
      <a:minorFont>
        <a:latin typeface="Frutiger 45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tandard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</TotalTime>
  <Words>1023</Words>
  <Application>Microsoft Office PowerPoint</Application>
  <PresentationFormat>宽屏</PresentationFormat>
  <Paragraphs>231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Frutiger 45 Light</vt:lpstr>
      <vt:lpstr>Frutiger 55 Roman</vt:lpstr>
      <vt:lpstr>Frutiger LT Com 45 Light</vt:lpstr>
      <vt:lpstr>Frutiger LT Com 55 Roman</vt:lpstr>
      <vt:lpstr>Arial</vt:lpstr>
      <vt:lpstr>Calibri</vt:lpstr>
      <vt:lpstr>Symbol</vt:lpstr>
      <vt:lpstr>Wingdings</vt:lpstr>
      <vt:lpstr>Wingdings 2</vt:lpstr>
      <vt:lpstr>Standarddesign</vt:lpstr>
      <vt:lpstr>Laborprojekt Servicerobotik / Bildverarbeitung für Robotik 2026 Zwischenpräsentation</vt:lpstr>
      <vt:lpstr>Motivation</vt:lpstr>
      <vt:lpstr>Konzept: BDD100K Dataset </vt:lpstr>
      <vt:lpstr>Konzept: Two-Phase Methodology</vt:lpstr>
      <vt:lpstr>Konzept: Preprocessing Methods</vt:lpstr>
      <vt:lpstr>Stand der Implementierung</vt:lpstr>
      <vt:lpstr>Stand der Implementierung</vt:lpstr>
      <vt:lpstr>Stand der Implementierung</vt:lpstr>
      <vt:lpstr>Stand der Implementierung</vt:lpstr>
      <vt:lpstr>Stand der Implementierung</vt:lpstr>
      <vt:lpstr>Geplante Experimente: Phase 3</vt:lpstr>
      <vt:lpstr>Fragen &amp; Diskussion</vt:lpstr>
    </vt:vector>
  </TitlesOfParts>
  <Company>Blues Brothers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richard.bormann@ipa.fraunhofer.de</dc:creator>
  <cp:lastModifiedBy>cyx545278055@gmail.com</cp:lastModifiedBy>
  <cp:revision>843</cp:revision>
  <dcterms:created xsi:type="dcterms:W3CDTF">2007-10-14T19:02:10Z</dcterms:created>
  <dcterms:modified xsi:type="dcterms:W3CDTF">2026-06-07T15:38:18Z</dcterms:modified>
</cp:coreProperties>
</file>